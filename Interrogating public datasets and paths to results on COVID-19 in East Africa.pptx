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icrobenotes.com/transmission-pathogenesis-replication-of-sars-cov-2/"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930c3ca6e9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930c3ca6e9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30c3ca6e9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930c3ca6e9_2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The disease is COVID-19, caused by a virus called SARS-CoV-2</a:t>
            </a:r>
            <a:br>
              <a:rPr lang="en-GB"/>
            </a:br>
            <a:r>
              <a:rPr lang="en-GB"/>
              <a:t>- Identified in China, declared pandemic by WHO in January 2020</a:t>
            </a:r>
            <a:endParaRPr/>
          </a:p>
          <a:p>
            <a:pPr indent="0" lvl="0" marL="0" rtl="0" algn="l">
              <a:lnSpc>
                <a:spcPct val="100000"/>
              </a:lnSpc>
              <a:spcBef>
                <a:spcPts val="0"/>
              </a:spcBef>
              <a:spcAft>
                <a:spcPts val="0"/>
              </a:spcAft>
              <a:buSzPts val="1100"/>
              <a:buNone/>
            </a:pPr>
            <a:r>
              <a:rPr lang="en-GB"/>
              <a:t>-Three known modes of transmission; droplet transmission - which occurs when respiratory droplets produced by an infected person (through coughing or sneezing) gets ingested or inhaled by individuals in close proximity. Contact transmission occurs when one touches contaminated surfaces or objects and subsequently touches nose/mouth/eyes. Aerosol transmission occurs when respiratory droplets mix into the air, forming aerosols and cause infection (</a:t>
            </a:r>
            <a:r>
              <a:rPr lang="en-GB" u="sng">
                <a:solidFill>
                  <a:schemeClr val="hlink"/>
                </a:solidFill>
                <a:hlinkClick r:id="rId2"/>
              </a:rPr>
              <a:t>https://microbenotes.com/transmission-pathogenesis-replication-of-sars-cov-2/</a:t>
            </a:r>
            <a:r>
              <a:rPr lang="en-GB"/>
              <a:t>)</a:t>
            </a:r>
            <a:endParaRPr/>
          </a:p>
          <a:p>
            <a:pPr indent="0" lvl="0" marL="0" rtl="0" algn="l">
              <a:lnSpc>
                <a:spcPct val="100000"/>
              </a:lnSpc>
              <a:spcBef>
                <a:spcPts val="0"/>
              </a:spcBef>
              <a:spcAft>
                <a:spcPts val="0"/>
              </a:spcAft>
              <a:buSzPts val="1100"/>
              <a:buNone/>
            </a:pPr>
            <a:r>
              <a:rPr lang="en-GB"/>
              <a:t>-Symptoms include...among others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930c3ca6e9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930c3ca6e9_2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200">
                <a:solidFill>
                  <a:schemeClr val="dk1"/>
                </a:solidFill>
                <a:highlight>
                  <a:srgbClr val="FFFFFF"/>
                </a:highlight>
                <a:latin typeface="Calibri"/>
                <a:ea typeface="Calibri"/>
                <a:cs typeface="Calibri"/>
                <a:sym typeface="Calibri"/>
              </a:rPr>
              <a:t>SARS-CoV-2 is an enveloped, single-stranded, positive-sense RNA virus with a non-segmented genome ~30 kb in size.</a:t>
            </a:r>
            <a:endParaRPr sz="1200">
              <a:solidFill>
                <a:schemeClr val="dk1"/>
              </a:solidFill>
              <a:highlight>
                <a:srgbClr val="FFFFFF"/>
              </a:highlight>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highlight>
                  <a:srgbClr val="FFFFFF"/>
                </a:highlight>
                <a:latin typeface="Calibri"/>
                <a:ea typeface="Calibri"/>
                <a:cs typeface="Calibri"/>
                <a:sym typeface="Calibri"/>
              </a:rPr>
              <a:t>The viral genome codes for 16 non-structural proteins (Nsps) required for virus replication and pathogenesis, four structural proteins, including envelope (E), membrane (M), nucleocapsid (N), and spike (S) glycoprotein important for virus subtyping and response to vaccines.</a:t>
            </a:r>
            <a:endParaRPr sz="1200">
              <a:solidFill>
                <a:schemeClr val="dk1"/>
              </a:solidFill>
              <a:highlight>
                <a:srgbClr val="FFFFFF"/>
              </a:highlight>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930c3ca6e9_2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930c3ca6e9_2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30c3ca6e9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930c3ca6e9_2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930c3ca6e9_2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930c3ca6e9_2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930c3ca6e9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930c3ca6e9_2_7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930c3ca6e9_2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930c3ca6e9_2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930c3ca6e9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930c3ca6e9_2_10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930c3ca6e9_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930c3ca6e9_2_1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930c3ca6e9_2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930c3ca6e9_2_1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930c3ca6e9_2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930c3ca6e9_2_1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930c3ca6e9_2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930c3ca6e9_2_1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930c3ca6e9_2_14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930c3ca6e9_2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930c3ca6e9_2_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930c3ca6e9_2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Complete genomes from E.A will be retrieved from GISAID/NCBI nucleotide database. Random selection and retrieval of genome sequences from Middle East (Dubai), Asia (China), Europe (UK) and America (U.S) to represent overseas cases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930c3ca6e9_2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930c3ca6e9_2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930c3ca6e9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930c3ca6e9_2_1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930c3ca6e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930c3ca6e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930c3ca6e9_2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930c3ca6e9_2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Complete genomes from E.A will be retrieved from GISAID/NCBI nucleotide database. Random selection and retrieval of genome sequences from Middle East (Dubai), Asia (China), Europe (UK) and America (U.S) to represent overseas cases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930c3ca6e9_2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930c3ca6e9_2_19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930c3ca6e9_2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930c3ca6e9_2_19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930c3ca6e9_2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930c3ca6e9_2_20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930c3ca6e9_2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930c3ca6e9_2_20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930c3ca6e9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930c3ca6e9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930c3ca6e9_8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930c3ca6e9_8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930c3ca6e9_2_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930c3ca6e9_2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930c3ca6e9_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930c3ca6e9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sp>
        <p:nvSpPr>
          <p:cNvPr id="55" name="Google Shape;55;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1" name="Google Shape;61;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2" name="Google Shape;6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5" name="Google Shape;65;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6" name="Google Shape;6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title"/>
          </p:nvPr>
        </p:nvSpPr>
        <p:spPr>
          <a:xfrm>
            <a:off x="756000" y="975175"/>
            <a:ext cx="7772700" cy="1460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sz="3200"/>
              <a:t>Interrogating public datasets and paths to results on COVID-19 in East Africa</a:t>
            </a:r>
            <a:endParaRPr sz="3200"/>
          </a:p>
        </p:txBody>
      </p:sp>
      <p:sp>
        <p:nvSpPr>
          <p:cNvPr id="100" name="Google Shape;100;p25"/>
          <p:cNvSpPr txBox="1"/>
          <p:nvPr/>
        </p:nvSpPr>
        <p:spPr>
          <a:xfrm>
            <a:off x="756000" y="2849000"/>
            <a:ext cx="7772700" cy="102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Mike Mwanga, Eva Akurut, Isaac E Omara, Edward Lukyamuzi, Levis Katwiire, Paul Talent, Ibra Lujumba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Coronavirus Virus Disease 2019 (COVID-19)</a:t>
            </a:r>
            <a:endParaRPr/>
          </a:p>
        </p:txBody>
      </p:sp>
      <p:sp>
        <p:nvSpPr>
          <p:cNvPr id="106" name="Google Shape;106;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rgbClr val="000000"/>
              </a:buClr>
              <a:buSzPts val="2000"/>
              <a:buChar char="●"/>
            </a:pPr>
            <a:r>
              <a:rPr lang="en-GB" sz="2000">
                <a:solidFill>
                  <a:srgbClr val="000000"/>
                </a:solidFill>
              </a:rPr>
              <a:t>COVID-19 is caused by severe acute respiratory syndrome coronavirus 2 (SARS-CoV-2) </a:t>
            </a:r>
            <a:endParaRPr sz="2000">
              <a:solidFill>
                <a:srgbClr val="000000"/>
              </a:solidFill>
            </a:endParaRPr>
          </a:p>
          <a:p>
            <a:pPr indent="-355600" lvl="0" marL="457200" rtl="0" algn="l">
              <a:lnSpc>
                <a:spcPct val="150000"/>
              </a:lnSpc>
              <a:spcBef>
                <a:spcPts val="0"/>
              </a:spcBef>
              <a:spcAft>
                <a:spcPts val="0"/>
              </a:spcAft>
              <a:buClr>
                <a:srgbClr val="000000"/>
              </a:buClr>
              <a:buSzPts val="2000"/>
              <a:buChar char="●"/>
            </a:pPr>
            <a:r>
              <a:rPr lang="en-GB" sz="2000">
                <a:solidFill>
                  <a:srgbClr val="000000"/>
                </a:solidFill>
              </a:rPr>
              <a:t>First Identified in December 2019 in Wuhan China and declared pandemic on 30 January 2020</a:t>
            </a:r>
            <a:endParaRPr sz="2000">
              <a:solidFill>
                <a:srgbClr val="000000"/>
              </a:solidFill>
            </a:endParaRPr>
          </a:p>
          <a:p>
            <a:pPr indent="-355600" lvl="0" marL="457200" rtl="0" algn="l">
              <a:lnSpc>
                <a:spcPct val="150000"/>
              </a:lnSpc>
              <a:spcBef>
                <a:spcPts val="0"/>
              </a:spcBef>
              <a:spcAft>
                <a:spcPts val="0"/>
              </a:spcAft>
              <a:buClr>
                <a:srgbClr val="000000"/>
              </a:buClr>
              <a:buSzPts val="2000"/>
              <a:buChar char="●"/>
            </a:pPr>
            <a:r>
              <a:rPr lang="en-GB" sz="2000">
                <a:solidFill>
                  <a:srgbClr val="000000"/>
                </a:solidFill>
              </a:rPr>
              <a:t>Mode of Transmission : droplets, contact routes</a:t>
            </a:r>
            <a:endParaRPr sz="2000">
              <a:solidFill>
                <a:srgbClr val="000000"/>
              </a:solidFill>
            </a:endParaRPr>
          </a:p>
          <a:p>
            <a:pPr indent="-355600" lvl="0" marL="457200" rtl="0" algn="l">
              <a:lnSpc>
                <a:spcPct val="150000"/>
              </a:lnSpc>
              <a:spcBef>
                <a:spcPts val="0"/>
              </a:spcBef>
              <a:spcAft>
                <a:spcPts val="0"/>
              </a:spcAft>
              <a:buClr>
                <a:srgbClr val="000000"/>
              </a:buClr>
              <a:buSzPts val="2000"/>
              <a:buChar char="●"/>
            </a:pPr>
            <a:r>
              <a:rPr lang="en-GB" sz="2000">
                <a:solidFill>
                  <a:srgbClr val="000000"/>
                </a:solidFill>
              </a:rPr>
              <a:t>Symptoms : Fever, dry cough, sore throat, breathing problems, headaches, lack of smell</a:t>
            </a:r>
            <a:endParaRPr sz="20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txBox="1"/>
          <p:nvPr>
            <p:ph idx="4294967295" type="ctrTitle"/>
          </p:nvPr>
        </p:nvSpPr>
        <p:spPr>
          <a:xfrm>
            <a:off x="455425" y="133925"/>
            <a:ext cx="8520600" cy="6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Genome structure of SARS-CoV-2	</a:t>
            </a:r>
            <a:endParaRPr b="0" i="0" sz="2800" u="none" cap="none" strike="noStrike">
              <a:solidFill>
                <a:schemeClr val="dk1"/>
              </a:solidFill>
              <a:latin typeface="Arial"/>
              <a:ea typeface="Arial"/>
              <a:cs typeface="Arial"/>
              <a:sym typeface="Arial"/>
            </a:endParaRPr>
          </a:p>
        </p:txBody>
      </p:sp>
      <p:sp>
        <p:nvSpPr>
          <p:cNvPr id="112" name="Google Shape;112;p27"/>
          <p:cNvSpPr txBox="1"/>
          <p:nvPr/>
        </p:nvSpPr>
        <p:spPr>
          <a:xfrm>
            <a:off x="455425" y="3460500"/>
            <a:ext cx="8388000" cy="145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rgbClr val="000000"/>
                </a:solidFill>
                <a:latin typeface="Arial"/>
                <a:ea typeface="Arial"/>
                <a:cs typeface="Arial"/>
                <a:sym typeface="Arial"/>
              </a:rPr>
              <a:t>Enveloped, ssRNA(+), Non-segmented genome (~30kb)</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rgbClr val="000000"/>
                </a:solidFill>
                <a:latin typeface="Arial"/>
                <a:ea typeface="Arial"/>
                <a:cs typeface="Arial"/>
                <a:sym typeface="Arial"/>
              </a:rPr>
              <a:t>Viral genome codes for; 16-Non-structural proteins, 4 structural proteins, 9 accessory factors</a:t>
            </a:r>
            <a:endParaRPr b="0" i="0" sz="1700" u="none" cap="none" strike="noStrike">
              <a:solidFill>
                <a:srgbClr val="000000"/>
              </a:solidFill>
              <a:latin typeface="Arial"/>
              <a:ea typeface="Arial"/>
              <a:cs typeface="Arial"/>
              <a:sym typeface="Arial"/>
            </a:endParaRPr>
          </a:p>
        </p:txBody>
      </p:sp>
      <p:sp>
        <p:nvSpPr>
          <p:cNvPr id="113" name="Google Shape;113;p27"/>
          <p:cNvSpPr txBox="1"/>
          <p:nvPr/>
        </p:nvSpPr>
        <p:spPr>
          <a:xfrm>
            <a:off x="5553750" y="4701525"/>
            <a:ext cx="3422100" cy="37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Arial"/>
                <a:ea typeface="Arial"/>
                <a:cs typeface="Arial"/>
                <a:sym typeface="Arial"/>
              </a:rPr>
              <a:t>https://www.ncbi.nlm.nih.gov/pmc/articles/PMC7161481/</a:t>
            </a:r>
            <a:endParaRPr b="0" i="0" sz="1000" u="none" cap="none" strike="noStrike">
              <a:solidFill>
                <a:srgbClr val="000000"/>
              </a:solidFill>
              <a:latin typeface="Arial"/>
              <a:ea typeface="Arial"/>
              <a:cs typeface="Arial"/>
              <a:sym typeface="Arial"/>
            </a:endParaRPr>
          </a:p>
        </p:txBody>
      </p:sp>
      <p:pic>
        <p:nvPicPr>
          <p:cNvPr id="114" name="Google Shape;114;p27"/>
          <p:cNvPicPr preferRelativeResize="0"/>
          <p:nvPr/>
        </p:nvPicPr>
        <p:blipFill rotWithShape="1">
          <a:blip r:embed="rId3">
            <a:alphaModFix/>
          </a:blip>
          <a:srcRect b="0" l="0" r="0" t="0"/>
          <a:stretch/>
        </p:blipFill>
        <p:spPr>
          <a:xfrm>
            <a:off x="935838" y="818963"/>
            <a:ext cx="7427174" cy="25627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8"/>
          <p:cNvSpPr txBox="1"/>
          <p:nvPr>
            <p:ph type="title"/>
          </p:nvPr>
        </p:nvSpPr>
        <p:spPr>
          <a:xfrm>
            <a:off x="374550" y="1517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Problem Statement</a:t>
            </a:r>
            <a:endParaRPr/>
          </a:p>
        </p:txBody>
      </p:sp>
      <p:sp>
        <p:nvSpPr>
          <p:cNvPr id="120" name="Google Shape;120;p28"/>
          <p:cNvSpPr txBox="1"/>
          <p:nvPr>
            <p:ph idx="1" type="body"/>
          </p:nvPr>
        </p:nvSpPr>
        <p:spPr>
          <a:xfrm>
            <a:off x="311700" y="879950"/>
            <a:ext cx="8320200" cy="40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t/>
            </a:r>
            <a:endParaRPr sz="1800">
              <a:solidFill>
                <a:schemeClr val="dk1"/>
              </a:solidFill>
            </a:endParaRPr>
          </a:p>
          <a:p>
            <a:pPr indent="0" lvl="0" marL="0" rtl="0" algn="l">
              <a:lnSpc>
                <a:spcPct val="115000"/>
              </a:lnSpc>
              <a:spcBef>
                <a:spcPts val="1600"/>
              </a:spcBef>
              <a:spcAft>
                <a:spcPts val="0"/>
              </a:spcAft>
              <a:buSzPts val="1400"/>
              <a:buNone/>
            </a:pPr>
            <a:r>
              <a:rPr lang="en-GB" sz="1800">
                <a:solidFill>
                  <a:schemeClr val="dk1"/>
                </a:solidFill>
              </a:rPr>
              <a:t>COVID-19 has </a:t>
            </a:r>
            <a:r>
              <a:rPr lang="en-GB" sz="1800">
                <a:solidFill>
                  <a:schemeClr val="dk1"/>
                </a:solidFill>
              </a:rPr>
              <a:t>impacted</a:t>
            </a:r>
            <a:r>
              <a:rPr lang="en-GB" sz="1800">
                <a:solidFill>
                  <a:schemeClr val="dk1"/>
                </a:solidFill>
              </a:rPr>
              <a:t> us in different ways and has since december last year led  to change in our lifestyles. </a:t>
            </a:r>
            <a:r>
              <a:rPr lang="en-GB" sz="1800">
                <a:solidFill>
                  <a:schemeClr val="dk1"/>
                </a:solidFill>
              </a:rPr>
              <a:t>In Order</a:t>
            </a:r>
            <a:r>
              <a:rPr lang="en-GB" sz="1800">
                <a:solidFill>
                  <a:schemeClr val="dk1"/>
                </a:solidFill>
              </a:rPr>
              <a:t> to combat this disease,unprecedented scientific efforts have been put in place so as to to understand the pathogen, SARS-CoV-2 hence obtain means to reduce  its spread </a:t>
            </a:r>
            <a:endParaRPr sz="1800">
              <a:solidFill>
                <a:schemeClr val="dk1"/>
              </a:solidFill>
            </a:endParaRPr>
          </a:p>
          <a:p>
            <a:pPr indent="0" lvl="0" marL="0" rtl="0" algn="l">
              <a:lnSpc>
                <a:spcPct val="115000"/>
              </a:lnSpc>
              <a:spcBef>
                <a:spcPts val="1600"/>
              </a:spcBef>
              <a:spcAft>
                <a:spcPts val="0"/>
              </a:spcAft>
              <a:buSzPts val="1400"/>
              <a:buNone/>
            </a:pPr>
            <a:r>
              <a:rPr lang="en-GB" sz="1800">
                <a:solidFill>
                  <a:schemeClr val="dk1"/>
                </a:solidFill>
              </a:rPr>
              <a:t>Large quantities of epidemiological and bioinformatics data have been generated and are publicly available which call for a need to analyze them</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9"/>
          <p:cNvSpPr txBox="1"/>
          <p:nvPr>
            <p:ph type="ctrTitle"/>
          </p:nvPr>
        </p:nvSpPr>
        <p:spPr>
          <a:xfrm>
            <a:off x="519700" y="350950"/>
            <a:ext cx="7408800" cy="591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5200"/>
              <a:buNone/>
            </a:pPr>
            <a:r>
              <a:rPr lang="en-GB" sz="2600">
                <a:solidFill>
                  <a:srgbClr val="000000"/>
                </a:solidFill>
              </a:rPr>
              <a:t>Significance of our work</a:t>
            </a:r>
            <a:endParaRPr sz="2600">
              <a:solidFill>
                <a:srgbClr val="000000"/>
              </a:solidFill>
            </a:endParaRPr>
          </a:p>
        </p:txBody>
      </p:sp>
      <p:sp>
        <p:nvSpPr>
          <p:cNvPr id="126" name="Google Shape;126;p29"/>
          <p:cNvSpPr txBox="1"/>
          <p:nvPr>
            <p:ph idx="1" type="subTitle"/>
          </p:nvPr>
        </p:nvSpPr>
        <p:spPr>
          <a:xfrm>
            <a:off x="101600" y="1200775"/>
            <a:ext cx="8864700" cy="38028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t/>
            </a:r>
            <a:endParaRPr sz="1800">
              <a:solidFill>
                <a:srgbClr val="000000"/>
              </a:solidFill>
            </a:endParaRPr>
          </a:p>
          <a:p>
            <a:pPr indent="-342900" lvl="0" marL="457200" rtl="0" algn="l">
              <a:lnSpc>
                <a:spcPct val="200000"/>
              </a:lnSpc>
              <a:spcBef>
                <a:spcPts val="0"/>
              </a:spcBef>
              <a:spcAft>
                <a:spcPts val="0"/>
              </a:spcAft>
              <a:buClr>
                <a:srgbClr val="000000"/>
              </a:buClr>
              <a:buSzPts val="1800"/>
              <a:buChar char="●"/>
            </a:pPr>
            <a:r>
              <a:rPr lang="en-GB" sz="1800">
                <a:solidFill>
                  <a:srgbClr val="000000"/>
                </a:solidFill>
              </a:rPr>
              <a:t> Understand  the transmission patterns to help in the design of appropriate public health interventions </a:t>
            </a:r>
            <a:endParaRPr sz="1800">
              <a:solidFill>
                <a:srgbClr val="000000"/>
              </a:solidFill>
            </a:endParaRPr>
          </a:p>
          <a:p>
            <a:pPr indent="-342900" lvl="0" marL="457200" rtl="0" algn="l">
              <a:lnSpc>
                <a:spcPct val="200000"/>
              </a:lnSpc>
              <a:spcBef>
                <a:spcPts val="0"/>
              </a:spcBef>
              <a:spcAft>
                <a:spcPts val="0"/>
              </a:spcAft>
              <a:buClr>
                <a:srgbClr val="000000"/>
              </a:buClr>
              <a:buSzPts val="1800"/>
              <a:buChar char="●"/>
            </a:pPr>
            <a:r>
              <a:rPr lang="en-GB" sz="1800">
                <a:solidFill>
                  <a:srgbClr val="000000"/>
                </a:solidFill>
              </a:rPr>
              <a:t>Insights on the genetic diversity inform testing procedures and vaccine efforts</a:t>
            </a:r>
            <a:endParaRPr sz="1800">
              <a:solidFill>
                <a:srgbClr val="000000"/>
              </a:solidFill>
            </a:endParaRPr>
          </a:p>
          <a:p>
            <a:pPr indent="-342900" lvl="0" marL="457200" rtl="0" algn="l">
              <a:lnSpc>
                <a:spcPct val="200000"/>
              </a:lnSpc>
              <a:spcBef>
                <a:spcPts val="0"/>
              </a:spcBef>
              <a:spcAft>
                <a:spcPts val="0"/>
              </a:spcAft>
              <a:buClr>
                <a:srgbClr val="000000"/>
              </a:buClr>
              <a:buSzPts val="1800"/>
              <a:buChar char="●"/>
            </a:pPr>
            <a:r>
              <a:rPr lang="en-GB" sz="1800">
                <a:solidFill>
                  <a:srgbClr val="000000"/>
                </a:solidFill>
              </a:rPr>
              <a:t>Contribute to the knowledge base on COVID-19</a:t>
            </a:r>
            <a:endParaRPr sz="1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0"/>
          <p:cNvSpPr txBox="1"/>
          <p:nvPr>
            <p:ph type="title"/>
          </p:nvPr>
        </p:nvSpPr>
        <p:spPr>
          <a:xfrm>
            <a:off x="311700" y="2145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GB"/>
              <a:t> General Objective</a:t>
            </a:r>
            <a:endParaRPr sz="4200"/>
          </a:p>
        </p:txBody>
      </p:sp>
      <p:sp>
        <p:nvSpPr>
          <p:cNvPr id="132" name="Google Shape;132;p30"/>
          <p:cNvSpPr txBox="1"/>
          <p:nvPr>
            <p:ph idx="1" type="body"/>
          </p:nvPr>
        </p:nvSpPr>
        <p:spPr>
          <a:xfrm>
            <a:off x="311700" y="933575"/>
            <a:ext cx="8520600" cy="3945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800"/>
              <a:buNone/>
            </a:pPr>
            <a:r>
              <a:rPr lang="en-GB">
                <a:solidFill>
                  <a:schemeClr val="dk1"/>
                </a:solidFill>
              </a:rPr>
              <a:t>To undertake epidemiological and bioinformatics  analysis of COVID-19 data from East Africa</a:t>
            </a:r>
            <a:endParaRPr/>
          </a:p>
          <a:p>
            <a:pPr indent="0" lvl="0" marL="0" rtl="0" algn="l">
              <a:lnSpc>
                <a:spcPct val="115000"/>
              </a:lnSpc>
              <a:spcBef>
                <a:spcPts val="0"/>
              </a:spcBef>
              <a:spcAft>
                <a:spcPts val="0"/>
              </a:spcAft>
              <a:buSzPts val="1800"/>
              <a:buNone/>
            </a:pPr>
            <a:r>
              <a:t/>
            </a:r>
            <a:endParaRPr>
              <a:solidFill>
                <a:schemeClr val="dk1"/>
              </a:solidFill>
            </a:endParaRPr>
          </a:p>
          <a:p>
            <a:pPr indent="0" lvl="0" marL="0" rtl="0" algn="l">
              <a:lnSpc>
                <a:spcPct val="115000"/>
              </a:lnSpc>
              <a:spcBef>
                <a:spcPts val="0"/>
              </a:spcBef>
              <a:spcAft>
                <a:spcPts val="0"/>
              </a:spcAft>
              <a:buSzPts val="1800"/>
              <a:buNone/>
            </a:pPr>
            <a:r>
              <a:rPr lang="en-GB">
                <a:solidFill>
                  <a:schemeClr val="dk1"/>
                </a:solidFill>
              </a:rPr>
              <a:t>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GB"/>
              <a:t>Epidemiological analysis</a:t>
            </a:r>
            <a:endParaRPr/>
          </a:p>
        </p:txBody>
      </p:sp>
      <p:sp>
        <p:nvSpPr>
          <p:cNvPr id="138" name="Google Shape;138;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chemeClr val="dk1"/>
                </a:solidFill>
              </a:rPr>
              <a:t>Specific objectives:</a:t>
            </a:r>
            <a:endParaRPr/>
          </a:p>
          <a:p>
            <a:pPr indent="0" lvl="0" marL="0" rtl="0" algn="l">
              <a:lnSpc>
                <a:spcPct val="115000"/>
              </a:lnSpc>
              <a:spcBef>
                <a:spcPts val="0"/>
              </a:spcBef>
              <a:spcAft>
                <a:spcPts val="0"/>
              </a:spcAft>
              <a:buSzPts val="1800"/>
              <a:buNone/>
            </a:pPr>
            <a:r>
              <a:t/>
            </a:r>
            <a:endParaRPr b="1">
              <a:solidFill>
                <a:schemeClr val="dk1"/>
              </a:solidFill>
            </a:endParaRPr>
          </a:p>
          <a:p>
            <a:pPr indent="-342900" lvl="0" marL="457200" rtl="0" algn="l">
              <a:lnSpc>
                <a:spcPct val="115000"/>
              </a:lnSpc>
              <a:spcBef>
                <a:spcPts val="0"/>
              </a:spcBef>
              <a:spcAft>
                <a:spcPts val="0"/>
              </a:spcAft>
              <a:buClr>
                <a:schemeClr val="dk1"/>
              </a:buClr>
              <a:buSzPts val="1800"/>
              <a:buAutoNum type="alphaLcPeriod"/>
            </a:pPr>
            <a:r>
              <a:rPr lang="en-GB">
                <a:solidFill>
                  <a:schemeClr val="dk1"/>
                </a:solidFill>
              </a:rPr>
              <a:t>To analyze infection statistics of COVID-19 in E. Africa using SEIR model</a:t>
            </a:r>
            <a:endParaRPr/>
          </a:p>
          <a:p>
            <a:pPr indent="-342900" lvl="0" marL="457200" rtl="0" algn="l">
              <a:lnSpc>
                <a:spcPct val="115000"/>
              </a:lnSpc>
              <a:spcBef>
                <a:spcPts val="0"/>
              </a:spcBef>
              <a:spcAft>
                <a:spcPts val="0"/>
              </a:spcAft>
              <a:buClr>
                <a:schemeClr val="dk1"/>
              </a:buClr>
              <a:buSzPts val="1800"/>
              <a:buAutoNum type="alphaLcPeriod"/>
            </a:pPr>
            <a:r>
              <a:rPr lang="en-GB">
                <a:solidFill>
                  <a:schemeClr val="dk1"/>
                </a:solidFill>
              </a:rPr>
              <a:t>Obtain the  basic reproduction ratio, </a:t>
            </a:r>
            <a:r>
              <a:rPr b="1" lang="en-GB">
                <a:solidFill>
                  <a:schemeClr val="dk1"/>
                </a:solidFill>
              </a:rPr>
              <a:t>R</a:t>
            </a:r>
            <a:r>
              <a:rPr b="1" baseline="-25000" lang="en-GB">
                <a:solidFill>
                  <a:schemeClr val="dk1"/>
                </a:solidFill>
              </a:rPr>
              <a:t>0</a:t>
            </a:r>
            <a:r>
              <a:rPr lang="en-GB">
                <a:solidFill>
                  <a:schemeClr val="dk1"/>
                </a:solidFil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2"/>
          <p:cNvSpPr txBox="1"/>
          <p:nvPr>
            <p:ph type="ctrTitle"/>
          </p:nvPr>
        </p:nvSpPr>
        <p:spPr>
          <a:xfrm>
            <a:off x="1787800" y="183075"/>
            <a:ext cx="4962000" cy="54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5200"/>
              <a:buNone/>
            </a:pPr>
            <a:r>
              <a:rPr lang="en-GB" sz="2400"/>
              <a:t>Epidemiological analysis pipeline</a:t>
            </a:r>
            <a:endParaRPr sz="2400"/>
          </a:p>
        </p:txBody>
      </p:sp>
      <p:sp>
        <p:nvSpPr>
          <p:cNvPr id="144" name="Google Shape;144;p32"/>
          <p:cNvSpPr txBox="1"/>
          <p:nvPr>
            <p:ph idx="1" type="subTitle"/>
          </p:nvPr>
        </p:nvSpPr>
        <p:spPr>
          <a:xfrm>
            <a:off x="120100" y="613925"/>
            <a:ext cx="8520600" cy="4315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 </a:t>
            </a:r>
            <a:endParaRPr/>
          </a:p>
        </p:txBody>
      </p:sp>
      <p:sp>
        <p:nvSpPr>
          <p:cNvPr id="145" name="Google Shape;145;p32"/>
          <p:cNvSpPr/>
          <p:nvPr/>
        </p:nvSpPr>
        <p:spPr>
          <a:xfrm>
            <a:off x="248800" y="757464"/>
            <a:ext cx="29769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Download data  from the WHO</a:t>
            </a:r>
            <a:endParaRPr b="0" i="0" sz="1400" u="none" cap="none" strike="noStrike">
              <a:solidFill>
                <a:srgbClr val="000000"/>
              </a:solidFill>
              <a:latin typeface="Arial"/>
              <a:ea typeface="Arial"/>
              <a:cs typeface="Arial"/>
              <a:sym typeface="Arial"/>
            </a:endParaRPr>
          </a:p>
        </p:txBody>
      </p:sp>
      <p:sp>
        <p:nvSpPr>
          <p:cNvPr id="146" name="Google Shape;146;p32"/>
          <p:cNvSpPr/>
          <p:nvPr/>
        </p:nvSpPr>
        <p:spPr>
          <a:xfrm>
            <a:off x="636400" y="2015275"/>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Filtered out data for Uganda and Kenya using </a:t>
            </a:r>
            <a:r>
              <a:rPr b="0" i="1" lang="en-GB" sz="1400" u="none" cap="none" strike="noStrike">
                <a:solidFill>
                  <a:srgbClr val="000000"/>
                </a:solidFill>
                <a:latin typeface="Arial"/>
                <a:ea typeface="Arial"/>
                <a:cs typeface="Arial"/>
                <a:sym typeface="Arial"/>
              </a:rPr>
              <a:t>tidyverse</a:t>
            </a:r>
            <a:r>
              <a:rPr b="0" i="0" lang="en-GB" sz="1400" u="none" cap="none" strike="noStrike">
                <a:solidFill>
                  <a:srgbClr val="000000"/>
                </a:solidFill>
                <a:latin typeface="Arial"/>
                <a:ea typeface="Arial"/>
                <a:cs typeface="Arial"/>
                <a:sym typeface="Arial"/>
              </a:rPr>
              <a:t> package</a:t>
            </a:r>
            <a:endParaRPr b="0" i="0" sz="1400" u="none" cap="none" strike="noStrike">
              <a:solidFill>
                <a:srgbClr val="000000"/>
              </a:solidFill>
              <a:latin typeface="Arial"/>
              <a:ea typeface="Arial"/>
              <a:cs typeface="Arial"/>
              <a:sym typeface="Arial"/>
            </a:endParaRPr>
          </a:p>
        </p:txBody>
      </p:sp>
      <p:sp>
        <p:nvSpPr>
          <p:cNvPr id="147" name="Google Shape;147;p32"/>
          <p:cNvSpPr/>
          <p:nvPr/>
        </p:nvSpPr>
        <p:spPr>
          <a:xfrm>
            <a:off x="636400" y="3435475"/>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Preprocessing</a:t>
            </a:r>
            <a:endParaRPr b="0" i="0" sz="1400" u="none" cap="none" strike="noStrike">
              <a:solidFill>
                <a:srgbClr val="000000"/>
              </a:solidFill>
              <a:latin typeface="Arial"/>
              <a:ea typeface="Arial"/>
              <a:cs typeface="Arial"/>
              <a:sym typeface="Arial"/>
            </a:endParaRPr>
          </a:p>
        </p:txBody>
      </p:sp>
      <p:sp>
        <p:nvSpPr>
          <p:cNvPr id="148" name="Google Shape;148;p32"/>
          <p:cNvSpPr/>
          <p:nvPr/>
        </p:nvSpPr>
        <p:spPr>
          <a:xfrm>
            <a:off x="3731500" y="743214"/>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Formulate differential equations for the SEIR model</a:t>
            </a:r>
            <a:endParaRPr b="0" i="0" sz="1400" u="none" cap="none" strike="noStrike">
              <a:solidFill>
                <a:srgbClr val="000000"/>
              </a:solidFill>
              <a:latin typeface="Arial"/>
              <a:ea typeface="Arial"/>
              <a:cs typeface="Arial"/>
              <a:sym typeface="Arial"/>
            </a:endParaRPr>
          </a:p>
        </p:txBody>
      </p:sp>
      <p:sp>
        <p:nvSpPr>
          <p:cNvPr id="149" name="Google Shape;149;p32"/>
          <p:cNvSpPr/>
          <p:nvPr/>
        </p:nvSpPr>
        <p:spPr>
          <a:xfrm>
            <a:off x="3722263" y="2991487"/>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Fit model to data, obtain best-fit parameters</a:t>
            </a:r>
            <a:endParaRPr b="0" i="0" sz="1400" u="none" cap="none" strike="noStrike">
              <a:solidFill>
                <a:srgbClr val="000000"/>
              </a:solidFill>
              <a:latin typeface="Arial"/>
              <a:ea typeface="Arial"/>
              <a:cs typeface="Arial"/>
              <a:sym typeface="Arial"/>
            </a:endParaRPr>
          </a:p>
        </p:txBody>
      </p:sp>
      <p:sp>
        <p:nvSpPr>
          <p:cNvPr id="150" name="Google Shape;150;p32"/>
          <p:cNvSpPr/>
          <p:nvPr/>
        </p:nvSpPr>
        <p:spPr>
          <a:xfrm>
            <a:off x="3722263" y="3911523"/>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Model predictions using best-fit parameters</a:t>
            </a:r>
            <a:endParaRPr b="0" i="0" sz="1400" u="none" cap="none" strike="noStrike">
              <a:solidFill>
                <a:srgbClr val="000000"/>
              </a:solidFill>
              <a:latin typeface="Arial"/>
              <a:ea typeface="Arial"/>
              <a:cs typeface="Arial"/>
              <a:sym typeface="Arial"/>
            </a:endParaRPr>
          </a:p>
        </p:txBody>
      </p:sp>
      <p:cxnSp>
        <p:nvCxnSpPr>
          <p:cNvPr id="151" name="Google Shape;151;p32"/>
          <p:cNvCxnSpPr>
            <a:stCxn id="148" idx="2"/>
            <a:endCxn id="152" idx="0"/>
          </p:cNvCxnSpPr>
          <p:nvPr/>
        </p:nvCxnSpPr>
        <p:spPr>
          <a:xfrm>
            <a:off x="4832350" y="1447614"/>
            <a:ext cx="0" cy="481500"/>
          </a:xfrm>
          <a:prstGeom prst="straightConnector1">
            <a:avLst/>
          </a:prstGeom>
          <a:noFill/>
          <a:ln cap="flat" cmpd="sng" w="9525">
            <a:solidFill>
              <a:schemeClr val="dk2"/>
            </a:solidFill>
            <a:prstDash val="solid"/>
            <a:round/>
            <a:headEnd len="sm" w="sm" type="none"/>
            <a:tailEnd len="med" w="med" type="triangle"/>
          </a:ln>
        </p:spPr>
      </p:cxnSp>
      <p:cxnSp>
        <p:nvCxnSpPr>
          <p:cNvPr id="153" name="Google Shape;153;p32"/>
          <p:cNvCxnSpPr>
            <a:stCxn id="149" idx="2"/>
            <a:endCxn id="150" idx="0"/>
          </p:cNvCxnSpPr>
          <p:nvPr/>
        </p:nvCxnSpPr>
        <p:spPr>
          <a:xfrm>
            <a:off x="4823113" y="3695887"/>
            <a:ext cx="0" cy="215700"/>
          </a:xfrm>
          <a:prstGeom prst="straightConnector1">
            <a:avLst/>
          </a:prstGeom>
          <a:noFill/>
          <a:ln cap="flat" cmpd="sng" w="9525">
            <a:solidFill>
              <a:schemeClr val="dk2"/>
            </a:solidFill>
            <a:prstDash val="solid"/>
            <a:round/>
            <a:headEnd len="sm" w="sm" type="none"/>
            <a:tailEnd len="med" w="med" type="triangle"/>
          </a:ln>
        </p:spPr>
      </p:cxnSp>
      <p:cxnSp>
        <p:nvCxnSpPr>
          <p:cNvPr id="154" name="Google Shape;154;p32"/>
          <p:cNvCxnSpPr>
            <a:stCxn id="145" idx="2"/>
            <a:endCxn id="146" idx="0"/>
          </p:cNvCxnSpPr>
          <p:nvPr/>
        </p:nvCxnSpPr>
        <p:spPr>
          <a:xfrm>
            <a:off x="1737250" y="1461864"/>
            <a:ext cx="0" cy="553500"/>
          </a:xfrm>
          <a:prstGeom prst="straightConnector1">
            <a:avLst/>
          </a:prstGeom>
          <a:noFill/>
          <a:ln cap="flat" cmpd="sng" w="9525">
            <a:solidFill>
              <a:schemeClr val="dk2"/>
            </a:solidFill>
            <a:prstDash val="solid"/>
            <a:round/>
            <a:headEnd len="sm" w="sm" type="none"/>
            <a:tailEnd len="med" w="med" type="triangle"/>
          </a:ln>
        </p:spPr>
      </p:cxnSp>
      <p:cxnSp>
        <p:nvCxnSpPr>
          <p:cNvPr id="155" name="Google Shape;155;p32"/>
          <p:cNvCxnSpPr>
            <a:stCxn id="146" idx="2"/>
            <a:endCxn id="147" idx="0"/>
          </p:cNvCxnSpPr>
          <p:nvPr/>
        </p:nvCxnSpPr>
        <p:spPr>
          <a:xfrm>
            <a:off x="1737250" y="2719675"/>
            <a:ext cx="0" cy="715800"/>
          </a:xfrm>
          <a:prstGeom prst="straightConnector1">
            <a:avLst/>
          </a:prstGeom>
          <a:noFill/>
          <a:ln cap="flat" cmpd="sng" w="9525">
            <a:solidFill>
              <a:schemeClr val="dk2"/>
            </a:solidFill>
            <a:prstDash val="solid"/>
            <a:round/>
            <a:headEnd len="sm" w="sm" type="none"/>
            <a:tailEnd len="med" w="med" type="triangle"/>
          </a:ln>
        </p:spPr>
      </p:cxnSp>
      <p:cxnSp>
        <p:nvCxnSpPr>
          <p:cNvPr id="156" name="Google Shape;156;p32"/>
          <p:cNvCxnSpPr>
            <a:stCxn id="147" idx="3"/>
            <a:endCxn id="149" idx="1"/>
          </p:cNvCxnSpPr>
          <p:nvPr/>
        </p:nvCxnSpPr>
        <p:spPr>
          <a:xfrm flipH="1" rot="10800000">
            <a:off x="2838100" y="3343675"/>
            <a:ext cx="884100" cy="444000"/>
          </a:xfrm>
          <a:prstGeom prst="straightConnector1">
            <a:avLst/>
          </a:prstGeom>
          <a:noFill/>
          <a:ln cap="flat" cmpd="sng" w="9525">
            <a:solidFill>
              <a:schemeClr val="dk2"/>
            </a:solidFill>
            <a:prstDash val="solid"/>
            <a:round/>
            <a:headEnd len="sm" w="sm" type="none"/>
            <a:tailEnd len="med" w="med" type="triangle"/>
          </a:ln>
        </p:spPr>
      </p:cxnSp>
      <p:sp>
        <p:nvSpPr>
          <p:cNvPr id="157" name="Google Shape;157;p32"/>
          <p:cNvSpPr/>
          <p:nvPr/>
        </p:nvSpPr>
        <p:spPr>
          <a:xfrm>
            <a:off x="6837100" y="722944"/>
            <a:ext cx="1498500" cy="67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LIterature review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cxnSp>
        <p:nvCxnSpPr>
          <p:cNvPr id="158" name="Google Shape;158;p32"/>
          <p:cNvCxnSpPr>
            <a:stCxn id="157" idx="1"/>
            <a:endCxn id="148" idx="3"/>
          </p:cNvCxnSpPr>
          <p:nvPr/>
        </p:nvCxnSpPr>
        <p:spPr>
          <a:xfrm flipH="1">
            <a:off x="5933200" y="1060894"/>
            <a:ext cx="903900" cy="34500"/>
          </a:xfrm>
          <a:prstGeom prst="straightConnector1">
            <a:avLst/>
          </a:prstGeom>
          <a:noFill/>
          <a:ln cap="flat" cmpd="sng" w="9525">
            <a:solidFill>
              <a:schemeClr val="dk2"/>
            </a:solidFill>
            <a:prstDash val="solid"/>
            <a:round/>
            <a:headEnd len="sm" w="sm" type="none"/>
            <a:tailEnd len="med" w="med" type="triangle"/>
          </a:ln>
        </p:spPr>
      </p:cxnSp>
      <p:sp>
        <p:nvSpPr>
          <p:cNvPr id="152" name="Google Shape;152;p32"/>
          <p:cNvSpPr/>
          <p:nvPr/>
        </p:nvSpPr>
        <p:spPr>
          <a:xfrm>
            <a:off x="3731500" y="1929211"/>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Solve differential equations using </a:t>
            </a:r>
            <a:r>
              <a:rPr b="0" i="1" lang="en-GB" sz="1400" u="none" cap="none" strike="noStrike">
                <a:solidFill>
                  <a:srgbClr val="000000"/>
                </a:solidFill>
                <a:latin typeface="Arial"/>
                <a:ea typeface="Arial"/>
                <a:cs typeface="Arial"/>
                <a:sym typeface="Arial"/>
              </a:rPr>
              <a:t>deSolve</a:t>
            </a:r>
            <a:r>
              <a:rPr b="0" i="0" lang="en-GB" sz="1400" u="none" cap="none" strike="noStrike">
                <a:solidFill>
                  <a:srgbClr val="000000"/>
                </a:solidFill>
                <a:latin typeface="Arial"/>
                <a:ea typeface="Arial"/>
                <a:cs typeface="Arial"/>
                <a:sym typeface="Arial"/>
              </a:rPr>
              <a:t> package</a:t>
            </a:r>
            <a:endParaRPr/>
          </a:p>
        </p:txBody>
      </p:sp>
      <p:cxnSp>
        <p:nvCxnSpPr>
          <p:cNvPr id="159" name="Google Shape;159;p32"/>
          <p:cNvCxnSpPr>
            <a:endCxn id="149" idx="0"/>
          </p:cNvCxnSpPr>
          <p:nvPr/>
        </p:nvCxnSpPr>
        <p:spPr>
          <a:xfrm>
            <a:off x="4801813" y="2647987"/>
            <a:ext cx="21300" cy="343500"/>
          </a:xfrm>
          <a:prstGeom prst="straightConnector1">
            <a:avLst/>
          </a:prstGeom>
          <a:noFill/>
          <a:ln cap="flat" cmpd="sng" w="9525">
            <a:solidFill>
              <a:schemeClr val="dk2"/>
            </a:solidFill>
            <a:prstDash val="solid"/>
            <a:round/>
            <a:headEnd len="sm" w="sm" type="none"/>
            <a:tailEnd len="med" w="med" type="triangle"/>
          </a:ln>
        </p:spPr>
      </p:cxnSp>
      <p:sp>
        <p:nvSpPr>
          <p:cNvPr id="160" name="Google Shape;160;p32"/>
          <p:cNvSpPr/>
          <p:nvPr/>
        </p:nvSpPr>
        <p:spPr>
          <a:xfrm>
            <a:off x="6385150" y="2228552"/>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Obtain expression for reproductive number using </a:t>
            </a:r>
            <a:r>
              <a:rPr b="1" i="0" lang="en-GB" sz="1400" u="none" cap="none" strike="noStrike">
                <a:solidFill>
                  <a:srgbClr val="000000"/>
                </a:solidFill>
                <a:latin typeface="Arial"/>
                <a:ea typeface="Arial"/>
                <a:cs typeface="Arial"/>
                <a:sym typeface="Arial"/>
              </a:rPr>
              <a:t>SageMath 9.0</a:t>
            </a:r>
            <a:endParaRPr/>
          </a:p>
        </p:txBody>
      </p:sp>
      <p:cxnSp>
        <p:nvCxnSpPr>
          <p:cNvPr id="161" name="Google Shape;161;p32"/>
          <p:cNvCxnSpPr>
            <a:stCxn id="148" idx="2"/>
            <a:endCxn id="160" idx="0"/>
          </p:cNvCxnSpPr>
          <p:nvPr/>
        </p:nvCxnSpPr>
        <p:spPr>
          <a:xfrm>
            <a:off x="4832350" y="1447614"/>
            <a:ext cx="2653800" cy="780900"/>
          </a:xfrm>
          <a:prstGeom prst="straightConnector1">
            <a:avLst/>
          </a:prstGeom>
          <a:noFill/>
          <a:ln cap="flat" cmpd="sng" w="9525">
            <a:solidFill>
              <a:schemeClr val="dk2"/>
            </a:solidFill>
            <a:prstDash val="solid"/>
            <a:round/>
            <a:headEnd len="sm" w="sm" type="none"/>
            <a:tailEnd len="med" w="med" type="triangle"/>
          </a:ln>
        </p:spPr>
      </p:cxnSp>
      <p:sp>
        <p:nvSpPr>
          <p:cNvPr id="162" name="Google Shape;162;p32"/>
          <p:cNvSpPr/>
          <p:nvPr/>
        </p:nvSpPr>
        <p:spPr>
          <a:xfrm>
            <a:off x="6385150" y="3762660"/>
            <a:ext cx="22017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Reproductive number</a:t>
            </a:r>
            <a:endParaRPr b="1" i="0" sz="1400" u="none" cap="none" strike="noStrike">
              <a:solidFill>
                <a:srgbClr val="000000"/>
              </a:solidFill>
              <a:latin typeface="Arial"/>
              <a:ea typeface="Arial"/>
              <a:cs typeface="Arial"/>
              <a:sym typeface="Arial"/>
            </a:endParaRPr>
          </a:p>
        </p:txBody>
      </p:sp>
      <p:cxnSp>
        <p:nvCxnSpPr>
          <p:cNvPr id="163" name="Google Shape;163;p32"/>
          <p:cNvCxnSpPr>
            <a:stCxn id="160" idx="2"/>
            <a:endCxn id="162" idx="0"/>
          </p:cNvCxnSpPr>
          <p:nvPr/>
        </p:nvCxnSpPr>
        <p:spPr>
          <a:xfrm>
            <a:off x="7486000" y="2932952"/>
            <a:ext cx="0" cy="829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Compartmental diagram for SEIR</a:t>
            </a:r>
            <a:endParaRPr/>
          </a:p>
        </p:txBody>
      </p:sp>
      <p:sp>
        <p:nvSpPr>
          <p:cNvPr id="169" name="Google Shape;169;p33"/>
          <p:cNvSpPr txBox="1"/>
          <p:nvPr>
            <p:ph idx="1" type="body"/>
          </p:nvPr>
        </p:nvSpPr>
        <p:spPr>
          <a:xfrm>
            <a:off x="3888509" y="1282073"/>
            <a:ext cx="4943791" cy="3678233"/>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GB" sz="1400">
                <a:solidFill>
                  <a:schemeClr val="dk1"/>
                </a:solidFill>
              </a:rPr>
              <a:t>S(t)</a:t>
            </a:r>
            <a:r>
              <a:rPr lang="en-GB" sz="1400">
                <a:solidFill>
                  <a:schemeClr val="dk1"/>
                </a:solidFill>
              </a:rPr>
              <a:t> – susceptible, </a:t>
            </a:r>
            <a:r>
              <a:rPr b="1" lang="en-GB" sz="1400">
                <a:solidFill>
                  <a:schemeClr val="dk1"/>
                </a:solidFill>
              </a:rPr>
              <a:t>E(t)</a:t>
            </a:r>
            <a:r>
              <a:rPr lang="en-GB" sz="1400">
                <a:solidFill>
                  <a:schemeClr val="dk1"/>
                </a:solidFill>
              </a:rPr>
              <a:t> – exposed, asymptomatic, I(t) – symptomatic, </a:t>
            </a:r>
            <a:r>
              <a:rPr b="1" lang="en-GB" sz="1400">
                <a:solidFill>
                  <a:schemeClr val="dk1"/>
                </a:solidFill>
              </a:rPr>
              <a:t>R(t)</a:t>
            </a:r>
            <a:r>
              <a:rPr lang="en-GB" sz="1400">
                <a:solidFill>
                  <a:schemeClr val="dk1"/>
                </a:solidFill>
              </a:rPr>
              <a:t> – recovered, immune, </a:t>
            </a:r>
            <a:r>
              <a:rPr b="1" lang="en-GB" sz="1400">
                <a:solidFill>
                  <a:schemeClr val="dk1"/>
                </a:solidFill>
              </a:rPr>
              <a:t>D(t)</a:t>
            </a:r>
            <a:r>
              <a:rPr lang="en-GB" sz="1400">
                <a:solidFill>
                  <a:schemeClr val="dk1"/>
                </a:solidFill>
              </a:rPr>
              <a:t> - dead people</a:t>
            </a:r>
            <a:endParaRPr/>
          </a:p>
          <a:p>
            <a:pPr indent="0" lvl="0" marL="114300" rtl="0" algn="l">
              <a:lnSpc>
                <a:spcPct val="115000"/>
              </a:lnSpc>
              <a:spcBef>
                <a:spcPts val="0"/>
              </a:spcBef>
              <a:spcAft>
                <a:spcPts val="0"/>
              </a:spcAft>
              <a:buSzPts val="1800"/>
              <a:buNone/>
            </a:pPr>
            <a:r>
              <a:t/>
            </a:r>
            <a:endParaRPr sz="1400">
              <a:solidFill>
                <a:schemeClr val="dk1"/>
              </a:solidFill>
            </a:endParaRPr>
          </a:p>
          <a:p>
            <a:pPr indent="0" lvl="0" marL="114300" rtl="0" algn="l">
              <a:lnSpc>
                <a:spcPct val="115000"/>
              </a:lnSpc>
              <a:spcBef>
                <a:spcPts val="0"/>
              </a:spcBef>
              <a:spcAft>
                <a:spcPts val="0"/>
              </a:spcAft>
              <a:buSzPts val="1800"/>
              <a:buNone/>
            </a:pPr>
            <a:r>
              <a:rPr lang="en-GB" sz="1400">
                <a:solidFill>
                  <a:schemeClr val="dk1"/>
                </a:solidFill>
              </a:rPr>
              <a:t>β - Effective transmission rate</a:t>
            </a:r>
            <a:endParaRPr/>
          </a:p>
          <a:p>
            <a:pPr indent="0" lvl="0" marL="114300" rtl="0" algn="l">
              <a:lnSpc>
                <a:spcPct val="115000"/>
              </a:lnSpc>
              <a:spcBef>
                <a:spcPts val="0"/>
              </a:spcBef>
              <a:spcAft>
                <a:spcPts val="0"/>
              </a:spcAft>
              <a:buSzPts val="1800"/>
              <a:buNone/>
            </a:pPr>
            <a:r>
              <a:rPr lang="en-GB" sz="1400">
                <a:solidFill>
                  <a:schemeClr val="dk1"/>
                </a:solidFill>
              </a:rPr>
              <a:t>𝛱 - Recruitment rate</a:t>
            </a:r>
            <a:endParaRPr/>
          </a:p>
          <a:p>
            <a:pPr indent="0" lvl="0" marL="114300" rtl="0" algn="l">
              <a:lnSpc>
                <a:spcPct val="115000"/>
              </a:lnSpc>
              <a:spcBef>
                <a:spcPts val="0"/>
              </a:spcBef>
              <a:spcAft>
                <a:spcPts val="0"/>
              </a:spcAft>
              <a:buSzPts val="1800"/>
              <a:buNone/>
            </a:pPr>
            <a:r>
              <a:rPr lang="en-GB" sz="1400">
                <a:solidFill>
                  <a:schemeClr val="dk1"/>
                </a:solidFill>
              </a:rPr>
              <a:t>μ -Natural death rate</a:t>
            </a:r>
            <a:endParaRPr/>
          </a:p>
          <a:p>
            <a:pPr indent="0" lvl="0" marL="114300" rtl="0" algn="l">
              <a:lnSpc>
                <a:spcPct val="115000"/>
              </a:lnSpc>
              <a:spcBef>
                <a:spcPts val="0"/>
              </a:spcBef>
              <a:spcAft>
                <a:spcPts val="0"/>
              </a:spcAft>
              <a:buSzPts val="1800"/>
              <a:buNone/>
            </a:pPr>
            <a:r>
              <a:rPr lang="en-GB" sz="1400">
                <a:solidFill>
                  <a:schemeClr val="dk1"/>
                </a:solidFill>
              </a:rPr>
              <a:t>𝝉 - Modification parameter for infectiousness</a:t>
            </a:r>
            <a:endParaRPr/>
          </a:p>
          <a:p>
            <a:pPr indent="0" lvl="0" marL="114300" rtl="0" algn="l">
              <a:lnSpc>
                <a:spcPct val="115000"/>
              </a:lnSpc>
              <a:spcBef>
                <a:spcPts val="0"/>
              </a:spcBef>
              <a:spcAft>
                <a:spcPts val="0"/>
              </a:spcAft>
              <a:buSzPts val="1800"/>
              <a:buNone/>
            </a:pPr>
            <a:r>
              <a:rPr lang="en-GB" sz="1400">
                <a:solidFill>
                  <a:schemeClr val="dk1"/>
                </a:solidFill>
              </a:rPr>
              <a:t>σ - Progression rate of exposed individuals</a:t>
            </a:r>
            <a:endParaRPr/>
          </a:p>
          <a:p>
            <a:pPr indent="0" lvl="0" marL="114300" rtl="0" algn="l">
              <a:lnSpc>
                <a:spcPct val="115000"/>
              </a:lnSpc>
              <a:spcBef>
                <a:spcPts val="0"/>
              </a:spcBef>
              <a:spcAft>
                <a:spcPts val="0"/>
              </a:spcAft>
              <a:buSzPts val="1800"/>
              <a:buNone/>
            </a:pPr>
            <a:r>
              <a:rPr lang="en-GB" sz="1400">
                <a:solidFill>
                  <a:schemeClr val="dk1"/>
                </a:solidFill>
              </a:rPr>
              <a:t>⍺ - Recovery rate </a:t>
            </a:r>
            <a:endParaRPr/>
          </a:p>
          <a:p>
            <a:pPr indent="0" lvl="0" marL="114300" rtl="0" algn="l">
              <a:lnSpc>
                <a:spcPct val="115000"/>
              </a:lnSpc>
              <a:spcBef>
                <a:spcPts val="0"/>
              </a:spcBef>
              <a:spcAft>
                <a:spcPts val="0"/>
              </a:spcAft>
              <a:buSzPts val="1800"/>
              <a:buNone/>
            </a:pPr>
            <a:r>
              <a:rPr i="1" lang="en-GB" sz="1400">
                <a:solidFill>
                  <a:schemeClr val="dk1"/>
                </a:solidFill>
              </a:rPr>
              <a:t>h</a:t>
            </a:r>
            <a:r>
              <a:rPr lang="en-GB" sz="1400">
                <a:solidFill>
                  <a:schemeClr val="dk1"/>
                </a:solidFill>
              </a:rPr>
              <a:t> -Fraction of symptomatic individuals who recovered</a:t>
            </a:r>
            <a:endParaRPr/>
          </a:p>
          <a:p>
            <a:pPr indent="0" lvl="0" marL="114300" rtl="0" algn="l">
              <a:lnSpc>
                <a:spcPct val="115000"/>
              </a:lnSpc>
              <a:spcBef>
                <a:spcPts val="0"/>
              </a:spcBef>
              <a:spcAft>
                <a:spcPts val="0"/>
              </a:spcAft>
              <a:buSzPts val="1800"/>
              <a:buNone/>
            </a:pPr>
            <a:r>
              <a:rPr lang="en-GB" sz="1400">
                <a:solidFill>
                  <a:schemeClr val="dk1"/>
                </a:solidFill>
              </a:rPr>
              <a:t>δ -Cremation/burial rate of deceased individuals</a:t>
            </a:r>
            <a:endParaRPr sz="1400">
              <a:solidFill>
                <a:schemeClr val="dk1"/>
              </a:solidFill>
            </a:endParaRPr>
          </a:p>
        </p:txBody>
      </p:sp>
      <p:pic>
        <p:nvPicPr>
          <p:cNvPr descr="A drawing of a person&#10;&#10;Description automatically generated" id="170" name="Google Shape;170;p33"/>
          <p:cNvPicPr preferRelativeResize="0"/>
          <p:nvPr/>
        </p:nvPicPr>
        <p:blipFill rotWithShape="1">
          <a:blip r:embed="rId3">
            <a:alphaModFix/>
          </a:blip>
          <a:srcRect b="0" l="0" r="0" t="0"/>
          <a:stretch/>
        </p:blipFill>
        <p:spPr>
          <a:xfrm>
            <a:off x="311700" y="1017727"/>
            <a:ext cx="3764949" cy="2141110"/>
          </a:xfrm>
          <a:prstGeom prst="rect">
            <a:avLst/>
          </a:prstGeom>
          <a:noFill/>
          <a:ln>
            <a:noFill/>
          </a:ln>
        </p:spPr>
      </p:pic>
      <p:pic>
        <p:nvPicPr>
          <p:cNvPr descr="A screenshot of a cell phone&#10;&#10;Description automatically generated" id="171" name="Google Shape;171;p33"/>
          <p:cNvPicPr preferRelativeResize="0"/>
          <p:nvPr/>
        </p:nvPicPr>
        <p:blipFill rotWithShape="1">
          <a:blip r:embed="rId4">
            <a:alphaModFix/>
          </a:blip>
          <a:srcRect b="0" l="10503" r="34445" t="0"/>
          <a:stretch/>
        </p:blipFill>
        <p:spPr>
          <a:xfrm>
            <a:off x="0" y="3005472"/>
            <a:ext cx="3195145" cy="2108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Model predictions using initialising parameters</a:t>
            </a:r>
            <a:endParaRPr/>
          </a:p>
        </p:txBody>
      </p:sp>
      <p:sp>
        <p:nvSpPr>
          <p:cNvPr id="177" name="Google Shape;177;p34"/>
          <p:cNvSpPr txBox="1"/>
          <p:nvPr>
            <p:ph idx="1" type="body"/>
          </p:nvPr>
        </p:nvSpPr>
        <p:spPr>
          <a:xfrm>
            <a:off x="6358759" y="1152475"/>
            <a:ext cx="2473541"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GB" sz="1600">
                <a:solidFill>
                  <a:schemeClr val="dk1"/>
                </a:solidFill>
              </a:rPr>
              <a:t>Assumed parameters</a:t>
            </a:r>
            <a:endParaRPr/>
          </a:p>
          <a:p>
            <a:pPr indent="0" lvl="0" marL="114300" rtl="0" algn="l">
              <a:lnSpc>
                <a:spcPct val="115000"/>
              </a:lnSpc>
              <a:spcBef>
                <a:spcPts val="0"/>
              </a:spcBef>
              <a:spcAft>
                <a:spcPts val="0"/>
              </a:spcAft>
              <a:buSzPts val="1800"/>
              <a:buNone/>
            </a:pPr>
            <a:r>
              <a:t/>
            </a:r>
            <a:endParaRPr sz="1600">
              <a:solidFill>
                <a:schemeClr val="dk1"/>
              </a:solidFill>
            </a:endParaRPr>
          </a:p>
          <a:p>
            <a:pPr indent="0" lvl="0" marL="114300" rtl="0" algn="l">
              <a:lnSpc>
                <a:spcPct val="115000"/>
              </a:lnSpc>
              <a:spcBef>
                <a:spcPts val="0"/>
              </a:spcBef>
              <a:spcAft>
                <a:spcPts val="0"/>
              </a:spcAft>
              <a:buSzPts val="1800"/>
              <a:buNone/>
            </a:pPr>
            <a:r>
              <a:rPr lang="en-GB" sz="1600">
                <a:solidFill>
                  <a:schemeClr val="dk1"/>
                </a:solidFill>
              </a:rPr>
              <a:t>β = 0.35, σ = 0.5,  𝛱 = 100, </a:t>
            </a:r>
            <a:r>
              <a:rPr i="1" lang="en-GB" sz="1600">
                <a:solidFill>
                  <a:schemeClr val="dk1"/>
                </a:solidFill>
              </a:rPr>
              <a:t>h</a:t>
            </a:r>
            <a:r>
              <a:rPr lang="en-GB" sz="1600">
                <a:solidFill>
                  <a:schemeClr val="dk1"/>
                </a:solidFill>
              </a:rPr>
              <a:t> = 0.65, μ = 0.00004, 𝝉 = 0.20, ⍺ = 0.33, δ = 0.5</a:t>
            </a:r>
            <a:endParaRPr sz="1600">
              <a:solidFill>
                <a:schemeClr val="dk1"/>
              </a:solidFill>
            </a:endParaRPr>
          </a:p>
          <a:p>
            <a:pPr indent="0" lvl="0" marL="114300" rtl="0" algn="l">
              <a:lnSpc>
                <a:spcPct val="115000"/>
              </a:lnSpc>
              <a:spcBef>
                <a:spcPts val="0"/>
              </a:spcBef>
              <a:spcAft>
                <a:spcPts val="0"/>
              </a:spcAft>
              <a:buSzPts val="1800"/>
              <a:buNone/>
            </a:pPr>
            <a:r>
              <a:t/>
            </a:r>
            <a:endParaRPr>
              <a:solidFill>
                <a:schemeClr val="dk1"/>
              </a:solidFill>
            </a:endParaRPr>
          </a:p>
        </p:txBody>
      </p:sp>
      <p:pic>
        <p:nvPicPr>
          <p:cNvPr descr="A picture containing racquetball, game&#10;&#10;Description automatically generated" id="178" name="Google Shape;178;p34"/>
          <p:cNvPicPr preferRelativeResize="0"/>
          <p:nvPr/>
        </p:nvPicPr>
        <p:blipFill rotWithShape="1">
          <a:blip r:embed="rId3">
            <a:alphaModFix/>
          </a:blip>
          <a:srcRect b="0" l="0" r="0" t="0"/>
          <a:stretch/>
        </p:blipFill>
        <p:spPr>
          <a:xfrm>
            <a:off x="0" y="1152474"/>
            <a:ext cx="6468213" cy="3991025"/>
          </a:xfrm>
          <a:prstGeom prst="rect">
            <a:avLst/>
          </a:prstGeom>
          <a:noFill/>
          <a:ln>
            <a:noFill/>
          </a:ln>
        </p:spPr>
      </p:pic>
      <p:pic>
        <p:nvPicPr>
          <p:cNvPr descr="A close up of a logo&#10;&#10;Description automatically generated" id="179" name="Google Shape;179;p34"/>
          <p:cNvPicPr preferRelativeResize="0"/>
          <p:nvPr/>
        </p:nvPicPr>
        <p:blipFill rotWithShape="1">
          <a:blip r:embed="rId4">
            <a:alphaModFix/>
          </a:blip>
          <a:srcRect b="0" l="0" r="0" t="0"/>
          <a:stretch/>
        </p:blipFill>
        <p:spPr>
          <a:xfrm>
            <a:off x="5787572" y="4120054"/>
            <a:ext cx="3241653" cy="690755"/>
          </a:xfrm>
          <a:prstGeom prst="rect">
            <a:avLst/>
          </a:prstGeom>
          <a:noFill/>
          <a:ln>
            <a:noFill/>
          </a:ln>
        </p:spPr>
      </p:pic>
      <p:sp>
        <p:nvSpPr>
          <p:cNvPr id="180" name="Google Shape;180;p34"/>
          <p:cNvSpPr txBox="1"/>
          <p:nvPr/>
        </p:nvSpPr>
        <p:spPr>
          <a:xfrm>
            <a:off x="5769323" y="3677527"/>
            <a:ext cx="2301765"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Arial"/>
                <a:ea typeface="Arial"/>
                <a:cs typeface="Arial"/>
                <a:sym typeface="Arial"/>
              </a:rPr>
              <a:t>Reproductive number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Data from WHO</a:t>
            </a:r>
            <a:endParaRPr/>
          </a:p>
        </p:txBody>
      </p:sp>
      <p:pic>
        <p:nvPicPr>
          <p:cNvPr descr="A screenshot of a cell phone&#10;&#10;Description automatically generated" id="186" name="Google Shape;186;p35"/>
          <p:cNvPicPr preferRelativeResize="0"/>
          <p:nvPr/>
        </p:nvPicPr>
        <p:blipFill rotWithShape="1">
          <a:blip r:embed="rId3">
            <a:alphaModFix/>
          </a:blip>
          <a:srcRect b="0" l="0" r="0" t="0"/>
          <a:stretch/>
        </p:blipFill>
        <p:spPr>
          <a:xfrm>
            <a:off x="464802" y="1242113"/>
            <a:ext cx="4183748" cy="2978369"/>
          </a:xfrm>
          <a:prstGeom prst="rect">
            <a:avLst/>
          </a:prstGeom>
          <a:noFill/>
          <a:ln>
            <a:noFill/>
          </a:ln>
        </p:spPr>
      </p:pic>
      <p:pic>
        <p:nvPicPr>
          <p:cNvPr descr="A close up of a map&#10;&#10;Description automatically generated" id="187" name="Google Shape;187;p35"/>
          <p:cNvPicPr preferRelativeResize="0"/>
          <p:nvPr/>
        </p:nvPicPr>
        <p:blipFill rotWithShape="1">
          <a:blip r:embed="rId4">
            <a:alphaModFix/>
          </a:blip>
          <a:srcRect b="0" l="0" r="0" t="0"/>
          <a:stretch/>
        </p:blipFill>
        <p:spPr>
          <a:xfrm>
            <a:off x="4648550" y="1128082"/>
            <a:ext cx="4343929" cy="309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Sensitivity analysis</a:t>
            </a:r>
            <a:endParaRPr/>
          </a:p>
        </p:txBody>
      </p:sp>
      <p:pic>
        <p:nvPicPr>
          <p:cNvPr descr="A close up of text on a white background&#10;&#10;Description automatically generated" id="193" name="Google Shape;193;p36"/>
          <p:cNvPicPr preferRelativeResize="0"/>
          <p:nvPr/>
        </p:nvPicPr>
        <p:blipFill rotWithShape="1">
          <a:blip r:embed="rId3">
            <a:alphaModFix/>
          </a:blip>
          <a:srcRect b="0" l="0" r="0" t="0"/>
          <a:stretch/>
        </p:blipFill>
        <p:spPr>
          <a:xfrm>
            <a:off x="311700" y="1017725"/>
            <a:ext cx="4481618" cy="3688786"/>
          </a:xfrm>
          <a:prstGeom prst="rect">
            <a:avLst/>
          </a:prstGeom>
          <a:noFill/>
          <a:ln>
            <a:noFill/>
          </a:ln>
        </p:spPr>
      </p:pic>
      <p:pic>
        <p:nvPicPr>
          <p:cNvPr descr="A close up of a map&#10;&#10;Description automatically generated" id="194" name="Google Shape;194;p36"/>
          <p:cNvPicPr preferRelativeResize="0"/>
          <p:nvPr/>
        </p:nvPicPr>
        <p:blipFill rotWithShape="1">
          <a:blip r:embed="rId4">
            <a:alphaModFix/>
          </a:blip>
          <a:srcRect b="0" l="0" r="0" t="0"/>
          <a:stretch/>
        </p:blipFill>
        <p:spPr>
          <a:xfrm>
            <a:off x="5098313" y="2973477"/>
            <a:ext cx="3517104" cy="2023200"/>
          </a:xfrm>
          <a:prstGeom prst="rect">
            <a:avLst/>
          </a:prstGeom>
          <a:noFill/>
          <a:ln>
            <a:noFill/>
          </a:ln>
        </p:spPr>
      </p:pic>
      <p:pic>
        <p:nvPicPr>
          <p:cNvPr descr="A screenshot of a cell phone&#10;&#10;Description automatically generated" id="195" name="Google Shape;195;p36"/>
          <p:cNvPicPr preferRelativeResize="0"/>
          <p:nvPr/>
        </p:nvPicPr>
        <p:blipFill rotWithShape="1">
          <a:blip r:embed="rId5">
            <a:alphaModFix/>
          </a:blip>
          <a:srcRect b="0" l="0" r="0" t="0"/>
          <a:stretch/>
        </p:blipFill>
        <p:spPr>
          <a:xfrm>
            <a:off x="5315196" y="937626"/>
            <a:ext cx="3300221" cy="2035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Model predictions using best-fit parameters</a:t>
            </a:r>
            <a:endParaRPr/>
          </a:p>
        </p:txBody>
      </p:sp>
      <p:pic>
        <p:nvPicPr>
          <p:cNvPr descr="A picture containing game&#10;&#10;Description automatically generated" id="201" name="Google Shape;201;p37"/>
          <p:cNvPicPr preferRelativeResize="0"/>
          <p:nvPr/>
        </p:nvPicPr>
        <p:blipFill rotWithShape="1">
          <a:blip r:embed="rId3">
            <a:alphaModFix/>
          </a:blip>
          <a:srcRect b="0" l="0" r="0" t="0"/>
          <a:stretch/>
        </p:blipFill>
        <p:spPr>
          <a:xfrm>
            <a:off x="403059" y="1556980"/>
            <a:ext cx="4359335" cy="2689200"/>
          </a:xfrm>
          <a:prstGeom prst="rect">
            <a:avLst/>
          </a:prstGeom>
          <a:noFill/>
          <a:ln>
            <a:noFill/>
          </a:ln>
        </p:spPr>
      </p:pic>
      <p:pic>
        <p:nvPicPr>
          <p:cNvPr descr="A picture containing game&#10;&#10;Description automatically generated" id="202" name="Google Shape;202;p37"/>
          <p:cNvPicPr preferRelativeResize="0"/>
          <p:nvPr/>
        </p:nvPicPr>
        <p:blipFill rotWithShape="1">
          <a:blip r:embed="rId4">
            <a:alphaModFix/>
          </a:blip>
          <a:srcRect b="0" l="0" r="0" t="0"/>
          <a:stretch/>
        </p:blipFill>
        <p:spPr>
          <a:xfrm>
            <a:off x="4691759" y="1556980"/>
            <a:ext cx="4049182" cy="2497872"/>
          </a:xfrm>
          <a:prstGeom prst="rect">
            <a:avLst/>
          </a:prstGeom>
          <a:noFill/>
          <a:ln>
            <a:noFill/>
          </a:ln>
        </p:spPr>
      </p:pic>
      <p:sp>
        <p:nvSpPr>
          <p:cNvPr id="203" name="Google Shape;203;p37"/>
          <p:cNvSpPr txBox="1"/>
          <p:nvPr/>
        </p:nvSpPr>
        <p:spPr>
          <a:xfrm>
            <a:off x="311700" y="4246180"/>
            <a:ext cx="3282838" cy="738664"/>
          </a:xfrm>
          <a:prstGeom prst="rect">
            <a:avLst/>
          </a:prstGeom>
          <a:noFill/>
          <a:ln>
            <a:noFill/>
          </a:ln>
        </p:spPr>
        <p:txBody>
          <a:bodyPr anchorCtr="0" anchor="t" bIns="45700" lIns="91425" spcFirstLastPara="1" rIns="91425" wrap="square" tIns="45700">
            <a:noAutofit/>
          </a:bodyPr>
          <a:lstStyle/>
          <a:p>
            <a:pPr indent="0" lvl="0" marL="114300" marR="0" rtl="0" algn="l">
              <a:lnSpc>
                <a:spcPct val="100000"/>
              </a:lnSpc>
              <a:spcBef>
                <a:spcPts val="0"/>
              </a:spcBef>
              <a:spcAft>
                <a:spcPts val="0"/>
              </a:spcAft>
              <a:buNone/>
            </a:pPr>
            <a:r>
              <a:rPr b="0" i="0" lang="en-GB" sz="1400" u="none" cap="none" strike="noStrike">
                <a:solidFill>
                  <a:srgbClr val="00B050"/>
                </a:solidFill>
                <a:latin typeface="Arial"/>
                <a:ea typeface="Arial"/>
                <a:cs typeface="Arial"/>
                <a:sym typeface="Arial"/>
              </a:rPr>
              <a:t>β = 0.539, σ = 1.295,  𝛱 = 55.948, </a:t>
            </a:r>
            <a:r>
              <a:rPr b="0" i="1" lang="en-GB" sz="1400" u="none" cap="none" strike="noStrike">
                <a:solidFill>
                  <a:srgbClr val="00B050"/>
                </a:solidFill>
                <a:latin typeface="Arial"/>
                <a:ea typeface="Arial"/>
                <a:cs typeface="Arial"/>
                <a:sym typeface="Arial"/>
              </a:rPr>
              <a:t>h</a:t>
            </a:r>
            <a:r>
              <a:rPr b="0" i="0" lang="en-GB" sz="1400" u="none" cap="none" strike="noStrike">
                <a:solidFill>
                  <a:srgbClr val="00B050"/>
                </a:solidFill>
                <a:latin typeface="Arial"/>
                <a:ea typeface="Arial"/>
                <a:cs typeface="Arial"/>
                <a:sym typeface="Arial"/>
              </a:rPr>
              <a:t> = 0.982, </a:t>
            </a:r>
            <a:r>
              <a:rPr b="0" i="0" lang="en-GB" sz="1400" u="none" cap="none" strike="noStrike">
                <a:solidFill>
                  <a:schemeClr val="dk1"/>
                </a:solidFill>
                <a:latin typeface="Arial"/>
                <a:ea typeface="Arial"/>
                <a:cs typeface="Arial"/>
                <a:sym typeface="Arial"/>
              </a:rPr>
              <a:t>μ = 0.00004, 𝝉 = 0.20, ⍺ = 0.33, δ = 0.5</a:t>
            </a:r>
            <a:endParaRPr b="0" i="0" sz="1400" u="none" cap="none" strike="noStrike">
              <a:solidFill>
                <a:srgbClr val="000000"/>
              </a:solidFill>
              <a:latin typeface="Arial"/>
              <a:ea typeface="Arial"/>
              <a:cs typeface="Arial"/>
              <a:sym typeface="Arial"/>
            </a:endParaRPr>
          </a:p>
        </p:txBody>
      </p:sp>
      <p:sp>
        <p:nvSpPr>
          <p:cNvPr id="204" name="Google Shape;204;p37"/>
          <p:cNvSpPr txBox="1"/>
          <p:nvPr/>
        </p:nvSpPr>
        <p:spPr>
          <a:xfrm>
            <a:off x="4572000" y="4224775"/>
            <a:ext cx="3282838" cy="738664"/>
          </a:xfrm>
          <a:prstGeom prst="rect">
            <a:avLst/>
          </a:prstGeom>
          <a:noFill/>
          <a:ln>
            <a:noFill/>
          </a:ln>
        </p:spPr>
        <p:txBody>
          <a:bodyPr anchorCtr="0" anchor="t" bIns="45700" lIns="91425" spcFirstLastPara="1" rIns="91425" wrap="square" tIns="45700">
            <a:noAutofit/>
          </a:bodyPr>
          <a:lstStyle/>
          <a:p>
            <a:pPr indent="0" lvl="0" marL="114300" marR="0" rtl="0" algn="l">
              <a:lnSpc>
                <a:spcPct val="100000"/>
              </a:lnSpc>
              <a:spcBef>
                <a:spcPts val="0"/>
              </a:spcBef>
              <a:spcAft>
                <a:spcPts val="0"/>
              </a:spcAft>
              <a:buNone/>
            </a:pPr>
            <a:r>
              <a:rPr b="0" i="0" lang="en-GB" sz="1400" u="none" cap="none" strike="noStrike">
                <a:solidFill>
                  <a:srgbClr val="00B050"/>
                </a:solidFill>
                <a:latin typeface="Arial"/>
                <a:ea typeface="Arial"/>
                <a:cs typeface="Arial"/>
                <a:sym typeface="Arial"/>
              </a:rPr>
              <a:t>β = 0.667, σ = 0.071,  𝛱 = 353.201, </a:t>
            </a:r>
            <a:r>
              <a:rPr b="0" i="1" lang="en-GB" sz="1400" u="none" cap="none" strike="noStrike">
                <a:solidFill>
                  <a:srgbClr val="00B050"/>
                </a:solidFill>
                <a:latin typeface="Arial"/>
                <a:ea typeface="Arial"/>
                <a:cs typeface="Arial"/>
                <a:sym typeface="Arial"/>
              </a:rPr>
              <a:t>h</a:t>
            </a:r>
            <a:r>
              <a:rPr b="0" i="0" lang="en-GB" sz="1400" u="none" cap="none" strike="noStrike">
                <a:solidFill>
                  <a:srgbClr val="00B050"/>
                </a:solidFill>
                <a:latin typeface="Arial"/>
                <a:ea typeface="Arial"/>
                <a:cs typeface="Arial"/>
                <a:sym typeface="Arial"/>
              </a:rPr>
              <a:t> = 0.997, </a:t>
            </a:r>
            <a:r>
              <a:rPr b="0" i="0" lang="en-GB" sz="1400" u="none" cap="none" strike="noStrike">
                <a:solidFill>
                  <a:schemeClr val="dk1"/>
                </a:solidFill>
                <a:latin typeface="Arial"/>
                <a:ea typeface="Arial"/>
                <a:cs typeface="Arial"/>
                <a:sym typeface="Arial"/>
              </a:rPr>
              <a:t>μ = 0.00004, 𝝉 = 0.20, ⍺ = 0.33, δ = 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nvSpPr>
        <p:spPr>
          <a:xfrm>
            <a:off x="291600" y="1219700"/>
            <a:ext cx="8560800" cy="3016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50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Investigate genetic diversity of SARS-CoV-2 detected in E. Africa </a:t>
            </a:r>
            <a:endParaRPr b="0" i="1"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Estimate evolutionary rate of SARS-CoV-2  and time of most common recent ancestor (TMRCA)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Compare sequences from East Africa with global sequences and infer the source of infection and the contribution of international and local infections through time of the pandemic</a:t>
            </a:r>
            <a:endParaRPr b="0" i="0" sz="1800" u="none" cap="none" strike="noStrike">
              <a:solidFill>
                <a:srgbClr val="000000"/>
              </a:solidFill>
              <a:latin typeface="Arial"/>
              <a:ea typeface="Arial"/>
              <a:cs typeface="Arial"/>
              <a:sym typeface="Arial"/>
            </a:endParaRPr>
          </a:p>
        </p:txBody>
      </p:sp>
      <p:sp>
        <p:nvSpPr>
          <p:cNvPr id="210" name="Google Shape;210;p38"/>
          <p:cNvSpPr txBox="1"/>
          <p:nvPr>
            <p:ph idx="4294967295" type="title"/>
          </p:nvPr>
        </p:nvSpPr>
        <p:spPr>
          <a:xfrm>
            <a:off x="491350" y="3469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2400"/>
              <a:t>2. Specific objectives - Bioinformatics analysis</a:t>
            </a:r>
            <a:endParaRPr sz="3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type="ctrTitle"/>
          </p:nvPr>
        </p:nvSpPr>
        <p:spPr>
          <a:xfrm>
            <a:off x="467177" y="158467"/>
            <a:ext cx="8560500" cy="558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5200"/>
              <a:buNone/>
            </a:pPr>
            <a:r>
              <a:rPr lang="en-GB" sz="2800"/>
              <a:t>Phylogenetics</a:t>
            </a:r>
            <a:endParaRPr sz="2800"/>
          </a:p>
        </p:txBody>
      </p:sp>
      <p:sp>
        <p:nvSpPr>
          <p:cNvPr id="216" name="Google Shape;216;p39"/>
          <p:cNvSpPr txBox="1"/>
          <p:nvPr/>
        </p:nvSpPr>
        <p:spPr>
          <a:xfrm>
            <a:off x="2131881" y="1177590"/>
            <a:ext cx="3657600" cy="55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9"/>
          <p:cNvSpPr/>
          <p:nvPr/>
        </p:nvSpPr>
        <p:spPr>
          <a:xfrm>
            <a:off x="1666631" y="1071577"/>
            <a:ext cx="309755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Data Collection (GISAID Initiative)</a:t>
            </a:r>
            <a:endParaRPr b="0" i="0" sz="1400" u="none" cap="none" strike="noStrike">
              <a:solidFill>
                <a:srgbClr val="000000"/>
              </a:solidFill>
              <a:latin typeface="Arial"/>
              <a:ea typeface="Arial"/>
              <a:cs typeface="Arial"/>
              <a:sym typeface="Arial"/>
            </a:endParaRPr>
          </a:p>
        </p:txBody>
      </p:sp>
      <p:cxnSp>
        <p:nvCxnSpPr>
          <p:cNvPr id="218" name="Google Shape;218;p39"/>
          <p:cNvCxnSpPr/>
          <p:nvPr/>
        </p:nvCxnSpPr>
        <p:spPr>
          <a:xfrm flipH="1">
            <a:off x="3215406" y="1461203"/>
            <a:ext cx="6600" cy="381300"/>
          </a:xfrm>
          <a:prstGeom prst="straightConnector1">
            <a:avLst/>
          </a:prstGeom>
          <a:noFill/>
          <a:ln cap="flat" cmpd="sng" w="9525">
            <a:solidFill>
              <a:schemeClr val="dk2"/>
            </a:solidFill>
            <a:prstDash val="solid"/>
            <a:round/>
            <a:headEnd len="sm" w="sm" type="none"/>
            <a:tailEnd len="med" w="med" type="triangle"/>
          </a:ln>
        </p:spPr>
      </p:cxnSp>
      <p:sp>
        <p:nvSpPr>
          <p:cNvPr id="219" name="Google Shape;219;p39"/>
          <p:cNvSpPr/>
          <p:nvPr/>
        </p:nvSpPr>
        <p:spPr>
          <a:xfrm>
            <a:off x="1666631" y="1829897"/>
            <a:ext cx="3097550" cy="538236"/>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Multiple Sequence Alignment (MAFFT)</a:t>
            </a:r>
            <a:endParaRPr b="0" i="0" sz="1400" u="none" cap="none" strike="noStrike">
              <a:solidFill>
                <a:srgbClr val="000000"/>
              </a:solidFill>
              <a:latin typeface="Arial"/>
              <a:ea typeface="Arial"/>
              <a:cs typeface="Arial"/>
              <a:sym typeface="Arial"/>
            </a:endParaRPr>
          </a:p>
        </p:txBody>
      </p:sp>
      <p:cxnSp>
        <p:nvCxnSpPr>
          <p:cNvPr id="220" name="Google Shape;220;p39"/>
          <p:cNvCxnSpPr>
            <a:stCxn id="219" idx="2"/>
          </p:cNvCxnSpPr>
          <p:nvPr/>
        </p:nvCxnSpPr>
        <p:spPr>
          <a:xfrm>
            <a:off x="3215406" y="2368133"/>
            <a:ext cx="0" cy="486000"/>
          </a:xfrm>
          <a:prstGeom prst="straightConnector1">
            <a:avLst/>
          </a:prstGeom>
          <a:noFill/>
          <a:ln cap="flat" cmpd="sng" w="9525">
            <a:solidFill>
              <a:schemeClr val="dk2"/>
            </a:solidFill>
            <a:prstDash val="solid"/>
            <a:round/>
            <a:headEnd len="sm" w="sm" type="none"/>
            <a:tailEnd len="med" w="med" type="triangle"/>
          </a:ln>
        </p:spPr>
      </p:cxnSp>
      <p:sp>
        <p:nvSpPr>
          <p:cNvPr id="221" name="Google Shape;221;p39"/>
          <p:cNvSpPr/>
          <p:nvPr/>
        </p:nvSpPr>
        <p:spPr>
          <a:xfrm>
            <a:off x="1666631" y="2849954"/>
            <a:ext cx="3097550" cy="566529"/>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Maximum likelihood</a:t>
            </a:r>
            <a:endParaRPr b="0" i="0" sz="1400" u="none" cap="none" strike="noStrike">
              <a:solidFill>
                <a:srgbClr val="000000"/>
              </a:solidFill>
              <a:latin typeface="Arial"/>
              <a:ea typeface="Arial"/>
              <a:cs typeface="Arial"/>
              <a:sym typeface="Arial"/>
            </a:endParaRPr>
          </a:p>
        </p:txBody>
      </p:sp>
      <p:sp>
        <p:nvSpPr>
          <p:cNvPr id="222" name="Google Shape;222;p39"/>
          <p:cNvSpPr/>
          <p:nvPr/>
        </p:nvSpPr>
        <p:spPr>
          <a:xfrm>
            <a:off x="5377856" y="2653154"/>
            <a:ext cx="2442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Maximum parsimony tree</a:t>
            </a:r>
            <a:endParaRPr b="0" i="0" sz="1400" u="none" cap="none" strike="noStrike">
              <a:solidFill>
                <a:srgbClr val="000000"/>
              </a:solidFill>
              <a:latin typeface="Arial"/>
              <a:ea typeface="Arial"/>
              <a:cs typeface="Arial"/>
              <a:sym typeface="Arial"/>
            </a:endParaRPr>
          </a:p>
        </p:txBody>
      </p:sp>
      <p:cxnSp>
        <p:nvCxnSpPr>
          <p:cNvPr id="223" name="Google Shape;223;p39"/>
          <p:cNvCxnSpPr>
            <a:stCxn id="219" idx="2"/>
            <a:endCxn id="222" idx="1"/>
          </p:cNvCxnSpPr>
          <p:nvPr/>
        </p:nvCxnSpPr>
        <p:spPr>
          <a:xfrm>
            <a:off x="3215406" y="2368133"/>
            <a:ext cx="2162400" cy="481800"/>
          </a:xfrm>
          <a:prstGeom prst="straightConnector1">
            <a:avLst/>
          </a:prstGeom>
          <a:noFill/>
          <a:ln cap="flat" cmpd="sng" w="9525">
            <a:solidFill>
              <a:schemeClr val="dk2"/>
            </a:solidFill>
            <a:prstDash val="solid"/>
            <a:round/>
            <a:headEnd len="sm" w="sm" type="none"/>
            <a:tailEnd len="med" w="med" type="triangle"/>
          </a:ln>
        </p:spPr>
      </p:cxnSp>
      <p:sp>
        <p:nvSpPr>
          <p:cNvPr id="224" name="Google Shape;224;p39"/>
          <p:cNvSpPr/>
          <p:nvPr/>
        </p:nvSpPr>
        <p:spPr>
          <a:xfrm>
            <a:off x="1994106" y="4050903"/>
            <a:ext cx="2442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Phylogenetic dating</a:t>
            </a:r>
            <a:endParaRPr b="0" i="0" sz="1400" u="none" cap="none" strike="noStrike">
              <a:solidFill>
                <a:srgbClr val="000000"/>
              </a:solidFill>
              <a:latin typeface="Arial"/>
              <a:ea typeface="Arial"/>
              <a:cs typeface="Arial"/>
              <a:sym typeface="Arial"/>
            </a:endParaRPr>
          </a:p>
        </p:txBody>
      </p:sp>
      <p:cxnSp>
        <p:nvCxnSpPr>
          <p:cNvPr id="225" name="Google Shape;225;p39"/>
          <p:cNvCxnSpPr>
            <a:endCxn id="224" idx="0"/>
          </p:cNvCxnSpPr>
          <p:nvPr/>
        </p:nvCxnSpPr>
        <p:spPr>
          <a:xfrm flipH="1">
            <a:off x="3215406" y="3447903"/>
            <a:ext cx="6600" cy="603000"/>
          </a:xfrm>
          <a:prstGeom prst="straightConnector1">
            <a:avLst/>
          </a:prstGeom>
          <a:noFill/>
          <a:ln cap="flat" cmpd="sng" w="9525">
            <a:solidFill>
              <a:schemeClr val="dk2"/>
            </a:solidFill>
            <a:prstDash val="solid"/>
            <a:round/>
            <a:headEnd len="sm" w="sm" type="none"/>
            <a:tailEnd len="med" w="med" type="triangle"/>
          </a:ln>
        </p:spPr>
      </p:cxnSp>
      <p:sp>
        <p:nvSpPr>
          <p:cNvPr id="226" name="Google Shape;226;p39"/>
          <p:cNvSpPr/>
          <p:nvPr/>
        </p:nvSpPr>
        <p:spPr>
          <a:xfrm>
            <a:off x="5120934" y="4050903"/>
            <a:ext cx="2442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TMRCA</a:t>
            </a:r>
            <a:endParaRPr b="0" i="0" sz="1400" u="none" cap="none" strike="noStrike">
              <a:solidFill>
                <a:srgbClr val="000000"/>
              </a:solidFill>
              <a:latin typeface="Arial"/>
              <a:ea typeface="Arial"/>
              <a:cs typeface="Arial"/>
              <a:sym typeface="Arial"/>
            </a:endParaRPr>
          </a:p>
        </p:txBody>
      </p:sp>
      <p:cxnSp>
        <p:nvCxnSpPr>
          <p:cNvPr id="227" name="Google Shape;227;p39"/>
          <p:cNvCxnSpPr>
            <a:stCxn id="224" idx="3"/>
            <a:endCxn id="226" idx="1"/>
          </p:cNvCxnSpPr>
          <p:nvPr/>
        </p:nvCxnSpPr>
        <p:spPr>
          <a:xfrm>
            <a:off x="4436706" y="4247703"/>
            <a:ext cx="6843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idx="4294967295" type="title"/>
          </p:nvPr>
        </p:nvSpPr>
        <p:spPr>
          <a:xfrm>
            <a:off x="491325" y="3753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GB" sz="3800"/>
              <a:t>East Africa</a:t>
            </a:r>
            <a:endParaRPr sz="3800"/>
          </a:p>
        </p:txBody>
      </p:sp>
      <p:pic>
        <p:nvPicPr>
          <p:cNvPr id="233" name="Google Shape;233;p40"/>
          <p:cNvPicPr preferRelativeResize="0"/>
          <p:nvPr/>
        </p:nvPicPr>
        <p:blipFill>
          <a:blip r:embed="rId3">
            <a:alphaModFix/>
          </a:blip>
          <a:stretch>
            <a:fillRect/>
          </a:stretch>
        </p:blipFill>
        <p:spPr>
          <a:xfrm>
            <a:off x="330875" y="1333433"/>
            <a:ext cx="4157838" cy="2952767"/>
          </a:xfrm>
          <a:prstGeom prst="rect">
            <a:avLst/>
          </a:prstGeom>
          <a:noFill/>
          <a:ln>
            <a:noFill/>
          </a:ln>
        </p:spPr>
      </p:pic>
      <p:pic>
        <p:nvPicPr>
          <p:cNvPr id="234" name="Google Shape;234;p40"/>
          <p:cNvPicPr preferRelativeResize="0"/>
          <p:nvPr/>
        </p:nvPicPr>
        <p:blipFill>
          <a:blip r:embed="rId4">
            <a:alphaModFix/>
          </a:blip>
          <a:stretch>
            <a:fillRect/>
          </a:stretch>
        </p:blipFill>
        <p:spPr>
          <a:xfrm>
            <a:off x="4360127" y="1158025"/>
            <a:ext cx="4651799" cy="330356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txBox="1"/>
          <p:nvPr>
            <p:ph type="title"/>
          </p:nvPr>
        </p:nvSpPr>
        <p:spPr>
          <a:xfrm>
            <a:off x="311700" y="2859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GB"/>
              <a:t>Sequences from around the world</a:t>
            </a:r>
            <a:endParaRPr/>
          </a:p>
        </p:txBody>
      </p:sp>
      <p:pic>
        <p:nvPicPr>
          <p:cNvPr id="240" name="Google Shape;240;p41"/>
          <p:cNvPicPr preferRelativeResize="0"/>
          <p:nvPr/>
        </p:nvPicPr>
        <p:blipFill>
          <a:blip r:embed="rId3">
            <a:alphaModFix/>
          </a:blip>
          <a:stretch>
            <a:fillRect/>
          </a:stretch>
        </p:blipFill>
        <p:spPr>
          <a:xfrm>
            <a:off x="3594825" y="1503950"/>
            <a:ext cx="5549175" cy="3427000"/>
          </a:xfrm>
          <a:prstGeom prst="rect">
            <a:avLst/>
          </a:prstGeom>
          <a:noFill/>
          <a:ln>
            <a:noFill/>
          </a:ln>
        </p:spPr>
      </p:pic>
      <p:pic>
        <p:nvPicPr>
          <p:cNvPr id="241" name="Google Shape;241;p41"/>
          <p:cNvPicPr preferRelativeResize="0"/>
          <p:nvPr/>
        </p:nvPicPr>
        <p:blipFill rotWithShape="1">
          <a:blip r:embed="rId4">
            <a:alphaModFix/>
          </a:blip>
          <a:srcRect b="11473" l="26494" r="23344" t="15820"/>
          <a:stretch/>
        </p:blipFill>
        <p:spPr>
          <a:xfrm>
            <a:off x="0" y="1127750"/>
            <a:ext cx="4015525" cy="3594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2"/>
          <p:cNvSpPr txBox="1"/>
          <p:nvPr>
            <p:ph type="title"/>
          </p:nvPr>
        </p:nvSpPr>
        <p:spPr>
          <a:xfrm>
            <a:off x="161300" y="481475"/>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Ongoing work</a:t>
            </a:r>
            <a:endParaRPr/>
          </a:p>
        </p:txBody>
      </p:sp>
      <p:sp>
        <p:nvSpPr>
          <p:cNvPr id="247" name="Google Shape;247;p42"/>
          <p:cNvSpPr txBox="1"/>
          <p:nvPr/>
        </p:nvSpPr>
        <p:spPr>
          <a:xfrm>
            <a:off x="782050" y="1488900"/>
            <a:ext cx="7820400" cy="33687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sz="2600"/>
              <a:t>Tree annotation and calibration</a:t>
            </a:r>
            <a:endParaRPr sz="2600"/>
          </a:p>
          <a:p>
            <a:pPr indent="-393700" lvl="0" marL="457200" rtl="0" algn="l">
              <a:spcBef>
                <a:spcPts val="0"/>
              </a:spcBef>
              <a:spcAft>
                <a:spcPts val="0"/>
              </a:spcAft>
              <a:buSzPts val="2600"/>
              <a:buChar char="●"/>
            </a:pPr>
            <a:r>
              <a:rPr lang="en-GB" sz="2600"/>
              <a:t>Maximum-parsimony tree</a:t>
            </a:r>
            <a:endParaRPr sz="2600"/>
          </a:p>
          <a:p>
            <a:pPr indent="-393700" lvl="0" marL="457200" rtl="0" algn="l">
              <a:spcBef>
                <a:spcPts val="0"/>
              </a:spcBef>
              <a:spcAft>
                <a:spcPts val="0"/>
              </a:spcAft>
              <a:buSzPts val="2600"/>
              <a:buChar char="●"/>
            </a:pPr>
            <a:r>
              <a:rPr lang="en-GB" sz="2600"/>
              <a:t>Homoplasy detection</a:t>
            </a:r>
            <a:endParaRPr sz="2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3"/>
          <p:cNvSpPr txBox="1"/>
          <p:nvPr>
            <p:ph type="ctrTitle"/>
          </p:nvPr>
        </p:nvSpPr>
        <p:spPr>
          <a:xfrm>
            <a:off x="235950" y="281775"/>
            <a:ext cx="8560500" cy="558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5200"/>
              <a:buNone/>
            </a:pPr>
            <a:r>
              <a:rPr lang="en-GB" sz="2800"/>
              <a:t>Phylogeographic analysis</a:t>
            </a:r>
            <a:endParaRPr sz="2800"/>
          </a:p>
        </p:txBody>
      </p:sp>
      <p:sp>
        <p:nvSpPr>
          <p:cNvPr id="253" name="Google Shape;253;p43"/>
          <p:cNvSpPr txBox="1"/>
          <p:nvPr/>
        </p:nvSpPr>
        <p:spPr>
          <a:xfrm>
            <a:off x="1185950" y="1188100"/>
            <a:ext cx="3657600" cy="55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3"/>
          <p:cNvSpPr/>
          <p:nvPr/>
        </p:nvSpPr>
        <p:spPr>
          <a:xfrm>
            <a:off x="4659600" y="1616199"/>
            <a:ext cx="3733800" cy="324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Multiple Sequence Alignment (MAFFT)</a:t>
            </a:r>
            <a:endParaRPr b="0" i="0" sz="1400" u="none" cap="none" strike="noStrike">
              <a:solidFill>
                <a:srgbClr val="000000"/>
              </a:solidFill>
              <a:latin typeface="Arial"/>
              <a:ea typeface="Arial"/>
              <a:cs typeface="Arial"/>
              <a:sym typeface="Arial"/>
            </a:endParaRPr>
          </a:p>
        </p:txBody>
      </p:sp>
      <p:cxnSp>
        <p:nvCxnSpPr>
          <p:cNvPr id="255" name="Google Shape;255;p43"/>
          <p:cNvCxnSpPr>
            <a:stCxn id="254" idx="2"/>
          </p:cNvCxnSpPr>
          <p:nvPr/>
        </p:nvCxnSpPr>
        <p:spPr>
          <a:xfrm>
            <a:off x="6526500" y="1940199"/>
            <a:ext cx="0" cy="437700"/>
          </a:xfrm>
          <a:prstGeom prst="straightConnector1">
            <a:avLst/>
          </a:prstGeom>
          <a:noFill/>
          <a:ln cap="flat" cmpd="sng" w="9525">
            <a:solidFill>
              <a:schemeClr val="dk2"/>
            </a:solidFill>
            <a:prstDash val="solid"/>
            <a:round/>
            <a:headEnd len="sm" w="sm" type="none"/>
            <a:tailEnd len="med" w="med" type="triangle"/>
          </a:ln>
        </p:spPr>
      </p:cxnSp>
      <p:sp>
        <p:nvSpPr>
          <p:cNvPr id="256" name="Google Shape;256;p43"/>
          <p:cNvSpPr/>
          <p:nvPr/>
        </p:nvSpPr>
        <p:spPr>
          <a:xfrm>
            <a:off x="4572000" y="2367470"/>
            <a:ext cx="3918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Generate BEAST XML file using BEAUTi</a:t>
            </a:r>
            <a:endParaRPr b="0" i="0" sz="1400" u="none" cap="none" strike="noStrike">
              <a:solidFill>
                <a:srgbClr val="000000"/>
              </a:solidFill>
              <a:latin typeface="Arial"/>
              <a:ea typeface="Arial"/>
              <a:cs typeface="Arial"/>
              <a:sym typeface="Arial"/>
            </a:endParaRPr>
          </a:p>
        </p:txBody>
      </p:sp>
      <p:sp>
        <p:nvSpPr>
          <p:cNvPr id="257" name="Google Shape;257;p43"/>
          <p:cNvSpPr/>
          <p:nvPr/>
        </p:nvSpPr>
        <p:spPr>
          <a:xfrm>
            <a:off x="5226850" y="3551720"/>
            <a:ext cx="2442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Run BEAST</a:t>
            </a:r>
            <a:endParaRPr b="0" i="0" sz="1400" u="none" cap="none" strike="noStrike">
              <a:solidFill>
                <a:srgbClr val="000000"/>
              </a:solidFill>
              <a:latin typeface="Arial"/>
              <a:ea typeface="Arial"/>
              <a:cs typeface="Arial"/>
              <a:sym typeface="Arial"/>
            </a:endParaRPr>
          </a:p>
        </p:txBody>
      </p:sp>
      <p:cxnSp>
        <p:nvCxnSpPr>
          <p:cNvPr id="258" name="Google Shape;258;p43"/>
          <p:cNvCxnSpPr>
            <a:stCxn id="256" idx="2"/>
          </p:cNvCxnSpPr>
          <p:nvPr/>
        </p:nvCxnSpPr>
        <p:spPr>
          <a:xfrm flipH="1">
            <a:off x="6526500" y="2761070"/>
            <a:ext cx="4500" cy="777000"/>
          </a:xfrm>
          <a:prstGeom prst="straightConnector1">
            <a:avLst/>
          </a:prstGeom>
          <a:noFill/>
          <a:ln cap="flat" cmpd="sng" w="9525">
            <a:solidFill>
              <a:schemeClr val="dk2"/>
            </a:solidFill>
            <a:prstDash val="solid"/>
            <a:round/>
            <a:headEnd len="sm" w="sm" type="none"/>
            <a:tailEnd len="med" w="med" type="triangle"/>
          </a:ln>
        </p:spPr>
      </p:cxnSp>
      <p:sp>
        <p:nvSpPr>
          <p:cNvPr id="259" name="Google Shape;259;p43"/>
          <p:cNvSpPr txBox="1"/>
          <p:nvPr/>
        </p:nvSpPr>
        <p:spPr>
          <a:xfrm>
            <a:off x="291600" y="1188099"/>
            <a:ext cx="3990703" cy="3673625"/>
          </a:xfrm>
          <a:prstGeom prst="rect">
            <a:avLst/>
          </a:prstGeom>
          <a:noFill/>
          <a:ln>
            <a:noFill/>
          </a:ln>
        </p:spPr>
        <p:txBody>
          <a:bodyPr anchorCtr="0" anchor="t" bIns="91425" lIns="91425" spcFirstLastPara="1" rIns="91425" wrap="square" tIns="91425">
            <a:noAutofit/>
          </a:bodyPr>
          <a:lstStyle/>
          <a:p>
            <a:pPr indent="0" lvl="0" marL="114300" marR="0" rtl="0" algn="l">
              <a:lnSpc>
                <a:spcPct val="150000"/>
              </a:lnSpc>
              <a:spcBef>
                <a:spcPts val="0"/>
              </a:spcBef>
              <a:spcAft>
                <a:spcPts val="0"/>
              </a:spcAft>
              <a:buNone/>
            </a:pPr>
            <a:r>
              <a:rPr b="1" i="0" lang="en-GB" sz="1400" u="none" cap="none" strike="noStrike">
                <a:solidFill>
                  <a:srgbClr val="000000"/>
                </a:solidFill>
                <a:latin typeface="Arial"/>
                <a:ea typeface="Arial"/>
                <a:cs typeface="Arial"/>
                <a:sym typeface="Arial"/>
              </a:rPr>
              <a:t>Hypothesis:</a:t>
            </a:r>
            <a:endParaRPr/>
          </a:p>
          <a:p>
            <a:pPr indent="0" lvl="0" marL="114300" marR="0" rtl="0" algn="l">
              <a:lnSpc>
                <a:spcPct val="150000"/>
              </a:lnSpc>
              <a:spcBef>
                <a:spcPts val="0"/>
              </a:spcBef>
              <a:spcAft>
                <a:spcPts val="0"/>
              </a:spcAft>
              <a:buNone/>
            </a:pPr>
            <a:r>
              <a:rPr b="0" i="0" lang="en-GB" sz="1400" u="none" cap="none" strike="noStrike">
                <a:solidFill>
                  <a:srgbClr val="000000"/>
                </a:solidFill>
                <a:latin typeface="Arial"/>
                <a:ea typeface="Arial"/>
                <a:cs typeface="Arial"/>
                <a:sym typeface="Arial"/>
              </a:rPr>
              <a:t>Sequence evolution occurs simultaneously with geographic dispersal. Bayesian test to uncover the imprint spatial epidemiological process leave in the genomes of a fast-evolving virus</a:t>
            </a:r>
            <a:endParaRPr/>
          </a:p>
          <a:p>
            <a:pPr indent="0" lvl="0" marL="114300" marR="0" rtl="0" algn="l">
              <a:lnSpc>
                <a:spcPct val="15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114300" marR="0" rtl="0" algn="l">
              <a:lnSpc>
                <a:spcPct val="150000"/>
              </a:lnSpc>
              <a:spcBef>
                <a:spcPts val="0"/>
              </a:spcBef>
              <a:spcAft>
                <a:spcPts val="0"/>
              </a:spcAft>
              <a:buNone/>
            </a:pPr>
            <a:r>
              <a:rPr b="1" i="0" lang="en-GB" sz="1400" u="none" cap="none" strike="noStrike">
                <a:solidFill>
                  <a:srgbClr val="000000"/>
                </a:solidFill>
                <a:latin typeface="Arial"/>
                <a:ea typeface="Arial"/>
                <a:cs typeface="Arial"/>
                <a:sym typeface="Arial"/>
              </a:rPr>
              <a:t>Aim:</a:t>
            </a:r>
            <a:endParaRPr/>
          </a:p>
          <a:p>
            <a:pPr indent="0" lvl="0" marL="114300" marR="0" rtl="0" algn="l">
              <a:lnSpc>
                <a:spcPct val="150000"/>
              </a:lnSpc>
              <a:spcBef>
                <a:spcPts val="0"/>
              </a:spcBef>
              <a:spcAft>
                <a:spcPts val="0"/>
              </a:spcAft>
              <a:buNone/>
            </a:pPr>
            <a:r>
              <a:rPr b="0" i="0" lang="en-GB" sz="1400" u="none" cap="none" strike="noStrike">
                <a:solidFill>
                  <a:srgbClr val="000000"/>
                </a:solidFill>
                <a:latin typeface="Arial"/>
                <a:ea typeface="Arial"/>
                <a:cs typeface="Arial"/>
                <a:sym typeface="Arial"/>
              </a:rPr>
              <a:t>To estimate the ancestral locations of the virus using a Bayesian discrete phylogeographic approach.</a:t>
            </a:r>
            <a:endParaRPr/>
          </a:p>
          <a:p>
            <a:pPr indent="0" lvl="0" marL="114300" marR="0" rtl="0" algn="l">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4"/>
          <p:cNvSpPr txBox="1"/>
          <p:nvPr>
            <p:ph type="title"/>
          </p:nvPr>
        </p:nvSpPr>
        <p:spPr>
          <a:xfrm>
            <a:off x="406293" y="427153"/>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GB"/>
              <a:t>Parsing Dates</a:t>
            </a:r>
            <a:endParaRPr/>
          </a:p>
        </p:txBody>
      </p:sp>
      <p:pic>
        <p:nvPicPr>
          <p:cNvPr descr="A screenshot of a social media post&#10;&#10;Description automatically generated" id="265" name="Google Shape;265;p44"/>
          <p:cNvPicPr preferRelativeResize="0"/>
          <p:nvPr/>
        </p:nvPicPr>
        <p:blipFill rotWithShape="1">
          <a:blip r:embed="rId3">
            <a:alphaModFix/>
          </a:blip>
          <a:srcRect b="0" l="0" r="0" t="0"/>
          <a:stretch/>
        </p:blipFill>
        <p:spPr>
          <a:xfrm>
            <a:off x="4553064" y="1341556"/>
            <a:ext cx="4544390" cy="3373200"/>
          </a:xfrm>
          <a:prstGeom prst="rect">
            <a:avLst/>
          </a:prstGeom>
          <a:noFill/>
          <a:ln>
            <a:noFill/>
          </a:ln>
        </p:spPr>
      </p:pic>
      <p:pic>
        <p:nvPicPr>
          <p:cNvPr descr="A screenshot of a social media post&#10;&#10;Description automatically generated" id="266" name="Google Shape;266;p44"/>
          <p:cNvPicPr preferRelativeResize="0"/>
          <p:nvPr/>
        </p:nvPicPr>
        <p:blipFill rotWithShape="1">
          <a:blip r:embed="rId4">
            <a:alphaModFix/>
          </a:blip>
          <a:srcRect b="0" l="0" r="0" t="0"/>
          <a:stretch/>
        </p:blipFill>
        <p:spPr>
          <a:xfrm>
            <a:off x="46546" y="1341556"/>
            <a:ext cx="4525454" cy="337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5"/>
          <p:cNvSpPr txBox="1"/>
          <p:nvPr>
            <p:ph type="title"/>
          </p:nvPr>
        </p:nvSpPr>
        <p:spPr>
          <a:xfrm>
            <a:off x="146808" y="636843"/>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GB"/>
              <a:t>Traits and molecular clock</a:t>
            </a:r>
            <a:endParaRPr/>
          </a:p>
        </p:txBody>
      </p:sp>
      <p:pic>
        <p:nvPicPr>
          <p:cNvPr descr="A screenshot of a cell phone&#10;&#10;Description automatically generated" id="272" name="Google Shape;272;p45"/>
          <p:cNvPicPr preferRelativeResize="0"/>
          <p:nvPr/>
        </p:nvPicPr>
        <p:blipFill rotWithShape="1">
          <a:blip r:embed="rId3">
            <a:alphaModFix/>
          </a:blip>
          <a:srcRect b="0" l="0" r="0" t="0"/>
          <a:stretch/>
        </p:blipFill>
        <p:spPr>
          <a:xfrm>
            <a:off x="3983421" y="1574724"/>
            <a:ext cx="5047732" cy="2872360"/>
          </a:xfrm>
          <a:prstGeom prst="rect">
            <a:avLst/>
          </a:prstGeom>
          <a:noFill/>
          <a:ln>
            <a:noFill/>
          </a:ln>
        </p:spPr>
      </p:pic>
      <p:pic>
        <p:nvPicPr>
          <p:cNvPr descr="A screenshot of a computer&#10;&#10;Description automatically generated" id="273" name="Google Shape;273;p45"/>
          <p:cNvPicPr preferRelativeResize="0"/>
          <p:nvPr/>
        </p:nvPicPr>
        <p:blipFill rotWithShape="1">
          <a:blip r:embed="rId4">
            <a:alphaModFix/>
          </a:blip>
          <a:srcRect b="0" l="0" r="0" t="0"/>
          <a:stretch/>
        </p:blipFill>
        <p:spPr>
          <a:xfrm>
            <a:off x="146216" y="1574725"/>
            <a:ext cx="3837205" cy="287235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descr="A screenshot of a computer&#10;&#10;Description automatically generated" id="278" name="Google Shape;278;p46"/>
          <p:cNvPicPr preferRelativeResize="0"/>
          <p:nvPr/>
        </p:nvPicPr>
        <p:blipFill rotWithShape="1">
          <a:blip r:embed="rId3">
            <a:alphaModFix/>
          </a:blip>
          <a:srcRect b="0" l="0" r="0" t="0"/>
          <a:stretch/>
        </p:blipFill>
        <p:spPr>
          <a:xfrm>
            <a:off x="1409289" y="1003224"/>
            <a:ext cx="6325421" cy="4140276"/>
          </a:xfrm>
          <a:prstGeom prst="rect">
            <a:avLst/>
          </a:prstGeom>
          <a:noFill/>
          <a:ln>
            <a:noFill/>
          </a:ln>
        </p:spPr>
      </p:pic>
      <p:sp>
        <p:nvSpPr>
          <p:cNvPr id="279" name="Google Shape;279;p46"/>
          <p:cNvSpPr txBox="1"/>
          <p:nvPr>
            <p:ph type="title"/>
          </p:nvPr>
        </p:nvSpPr>
        <p:spPr>
          <a:xfrm>
            <a:off x="311699" y="161424"/>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GB"/>
              <a:t>Analyzing BEAST output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7"/>
          <p:cNvSpPr txBox="1"/>
          <p:nvPr>
            <p:ph type="title"/>
          </p:nvPr>
        </p:nvSpPr>
        <p:spPr>
          <a:xfrm>
            <a:off x="311700" y="511236"/>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GB"/>
              <a:t>Further steps</a:t>
            </a:r>
            <a:endParaRPr/>
          </a:p>
        </p:txBody>
      </p:sp>
      <p:sp>
        <p:nvSpPr>
          <p:cNvPr id="285" name="Google Shape;285;p47"/>
          <p:cNvSpPr txBox="1"/>
          <p:nvPr/>
        </p:nvSpPr>
        <p:spPr>
          <a:xfrm>
            <a:off x="311700" y="1353036"/>
            <a:ext cx="8520600" cy="2798550"/>
          </a:xfrm>
          <a:prstGeom prst="rect">
            <a:avLst/>
          </a:prstGeom>
          <a:noFill/>
          <a:ln>
            <a:noFill/>
          </a:ln>
        </p:spPr>
        <p:txBody>
          <a:bodyPr anchorCtr="0" anchor="ctr" bIns="91425" lIns="91425" spcFirstLastPara="1" rIns="91425" wrap="square" tIns="91425">
            <a:noAutofit/>
          </a:bodyPr>
          <a:lstStyle/>
          <a:p>
            <a:pPr indent="-285750" lvl="0" marL="285750" marR="0" rtl="0" algn="l">
              <a:lnSpc>
                <a:spcPct val="100000"/>
              </a:lnSpc>
              <a:spcBef>
                <a:spcPts val="0"/>
              </a:spcBef>
              <a:spcAft>
                <a:spcPts val="0"/>
              </a:spcAft>
              <a:buClr>
                <a:schemeClr val="dk1"/>
              </a:buClr>
              <a:buSzPts val="3600"/>
              <a:buFont typeface="Arial"/>
              <a:buChar char="•"/>
            </a:pPr>
            <a:r>
              <a:rPr b="0" i="0" lang="en-GB" sz="2000" u="none" cap="none" strike="noStrike">
                <a:solidFill>
                  <a:schemeClr val="dk1"/>
                </a:solidFill>
                <a:latin typeface="Arial"/>
                <a:ea typeface="Arial"/>
                <a:cs typeface="Arial"/>
                <a:sym typeface="Arial"/>
              </a:rPr>
              <a:t>Rerun BEAST analysis using a longer chain</a:t>
            </a:r>
            <a:endParaRPr/>
          </a:p>
          <a:p>
            <a:pPr indent="-285750" lvl="0" marL="285750" marR="0" rtl="0" algn="l">
              <a:lnSpc>
                <a:spcPct val="100000"/>
              </a:lnSpc>
              <a:spcBef>
                <a:spcPts val="0"/>
              </a:spcBef>
              <a:spcAft>
                <a:spcPts val="0"/>
              </a:spcAft>
              <a:buClr>
                <a:schemeClr val="dk1"/>
              </a:buClr>
              <a:buSzPts val="3600"/>
              <a:buFont typeface="Arial"/>
              <a:buChar char="•"/>
            </a:pPr>
            <a:r>
              <a:rPr b="0" i="0" lang="en-GB" sz="2000" u="none" cap="none" strike="noStrike">
                <a:solidFill>
                  <a:schemeClr val="dk1"/>
                </a:solidFill>
                <a:latin typeface="Arial"/>
                <a:ea typeface="Arial"/>
                <a:cs typeface="Arial"/>
                <a:sym typeface="Arial"/>
              </a:rPr>
              <a:t>Analyse log files using Tracer</a:t>
            </a:r>
            <a:endParaRPr/>
          </a:p>
          <a:p>
            <a:pPr indent="-285750" lvl="0" marL="285750" marR="0" rtl="0" algn="l">
              <a:lnSpc>
                <a:spcPct val="100000"/>
              </a:lnSpc>
              <a:spcBef>
                <a:spcPts val="0"/>
              </a:spcBef>
              <a:spcAft>
                <a:spcPts val="0"/>
              </a:spcAft>
              <a:buClr>
                <a:schemeClr val="dk1"/>
              </a:buClr>
              <a:buSzPts val="3600"/>
              <a:buFont typeface="Arial"/>
              <a:buChar char="•"/>
            </a:pPr>
            <a:r>
              <a:rPr b="0" i="0" lang="en-GB" sz="2000" u="none" cap="none" strike="noStrike">
                <a:solidFill>
                  <a:schemeClr val="dk1"/>
                </a:solidFill>
                <a:latin typeface="Arial"/>
                <a:ea typeface="Arial"/>
                <a:cs typeface="Arial"/>
                <a:sym typeface="Arial"/>
              </a:rPr>
              <a:t>Summarizing &amp; visualising trees using TreeAnnotator</a:t>
            </a:r>
            <a:endParaRPr/>
          </a:p>
          <a:p>
            <a:pPr indent="-285750" lvl="0" marL="285750" marR="0" rtl="0" algn="l">
              <a:lnSpc>
                <a:spcPct val="100000"/>
              </a:lnSpc>
              <a:spcBef>
                <a:spcPts val="0"/>
              </a:spcBef>
              <a:spcAft>
                <a:spcPts val="0"/>
              </a:spcAft>
              <a:buClr>
                <a:schemeClr val="dk1"/>
              </a:buClr>
              <a:buSzPts val="3600"/>
              <a:buFont typeface="Arial"/>
              <a:buChar char="•"/>
            </a:pPr>
            <a:r>
              <a:rPr b="0" i="0" lang="en-GB" sz="2000" u="none" cap="none" strike="noStrike">
                <a:solidFill>
                  <a:schemeClr val="dk1"/>
                </a:solidFill>
                <a:latin typeface="Arial"/>
                <a:ea typeface="Arial"/>
                <a:cs typeface="Arial"/>
                <a:sym typeface="Arial"/>
              </a:rPr>
              <a:t>Visualising MCC trees &amp; calculating Bayes factor rate using SpreaD3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type="ctrTitle"/>
          </p:nvPr>
        </p:nvSpPr>
        <p:spPr>
          <a:xfrm>
            <a:off x="273825" y="317850"/>
            <a:ext cx="8520600" cy="1215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Challenges</a:t>
            </a:r>
            <a:endParaRPr/>
          </a:p>
        </p:txBody>
      </p:sp>
      <p:sp>
        <p:nvSpPr>
          <p:cNvPr id="291" name="Google Shape;291;p48"/>
          <p:cNvSpPr txBox="1"/>
          <p:nvPr>
            <p:ph idx="1" type="subTitle"/>
          </p:nvPr>
        </p:nvSpPr>
        <p:spPr>
          <a:xfrm>
            <a:off x="311700" y="1616100"/>
            <a:ext cx="8520600" cy="29634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Clr>
                <a:srgbClr val="000000"/>
              </a:buClr>
              <a:buSzPts val="2800"/>
              <a:buChar char="●"/>
            </a:pPr>
            <a:r>
              <a:rPr lang="en-GB">
                <a:solidFill>
                  <a:srgbClr val="000000"/>
                </a:solidFill>
              </a:rPr>
              <a:t>There is no corresponding SRA data for sequence in GISAID</a:t>
            </a:r>
            <a:endParaRPr>
              <a:solidFill>
                <a:srgbClr val="000000"/>
              </a:solidFill>
            </a:endParaRPr>
          </a:p>
          <a:p>
            <a:pPr indent="-406400" lvl="0" marL="457200" rtl="0" algn="just">
              <a:spcBef>
                <a:spcPts val="0"/>
              </a:spcBef>
              <a:spcAft>
                <a:spcPts val="0"/>
              </a:spcAft>
              <a:buClr>
                <a:srgbClr val="000000"/>
              </a:buClr>
              <a:buSzPts val="2800"/>
              <a:buChar char="●"/>
            </a:pPr>
            <a:r>
              <a:rPr lang="en-GB">
                <a:solidFill>
                  <a:srgbClr val="000000"/>
                </a:solidFill>
              </a:rPr>
              <a:t>E. African countries without data, e.g TZ</a:t>
            </a:r>
            <a:endParaRPr>
              <a:solidFill>
                <a:srgbClr val="000000"/>
              </a:solidFill>
            </a:endParaRPr>
          </a:p>
          <a:p>
            <a:pPr indent="-406400" lvl="0" marL="457200" rtl="0" algn="just">
              <a:spcBef>
                <a:spcPts val="0"/>
              </a:spcBef>
              <a:spcAft>
                <a:spcPts val="0"/>
              </a:spcAft>
              <a:buClr>
                <a:srgbClr val="000000"/>
              </a:buClr>
              <a:buSzPts val="2800"/>
              <a:buChar char="●"/>
            </a:pPr>
            <a:r>
              <a:rPr lang="en-GB">
                <a:solidFill>
                  <a:srgbClr val="000000"/>
                </a:solidFill>
              </a:rPr>
              <a:t>Computational challenges</a:t>
            </a:r>
            <a:endParaRPr>
              <a:solidFill>
                <a:srgbClr val="000000"/>
              </a:solidFill>
            </a:endParaRPr>
          </a:p>
          <a:p>
            <a:pPr indent="-406400" lvl="0" marL="457200" rtl="0" algn="just">
              <a:spcBef>
                <a:spcPts val="0"/>
              </a:spcBef>
              <a:spcAft>
                <a:spcPts val="0"/>
              </a:spcAft>
              <a:buClr>
                <a:srgbClr val="000000"/>
              </a:buClr>
              <a:buSzPts val="2800"/>
              <a:buChar char="●"/>
            </a:pPr>
            <a:r>
              <a:rPr lang="en-GB">
                <a:solidFill>
                  <a:srgbClr val="000000"/>
                </a:solidFill>
              </a:rPr>
              <a:t>Working remotely</a:t>
            </a:r>
            <a:endParaRPr>
              <a:solidFill>
                <a:srgbClr val="000000"/>
              </a:solidFill>
            </a:endParaRPr>
          </a:p>
          <a:p>
            <a:pPr indent="0" lvl="0" marL="457200" rtl="0" algn="just">
              <a:spcBef>
                <a:spcPts val="0"/>
              </a:spcBef>
              <a:spcAft>
                <a:spcPts val="0"/>
              </a:spcAft>
              <a:buNone/>
            </a:pPr>
            <a:r>
              <a:t/>
            </a:r>
            <a:endParaRPr/>
          </a:p>
          <a:p>
            <a:pPr indent="0" lvl="0" marL="0" rtl="0" algn="l">
              <a:spcBef>
                <a:spcPts val="0"/>
              </a:spcBef>
              <a:spcAft>
                <a:spcPts val="0"/>
              </a:spcAft>
              <a:buNone/>
            </a:pPr>
            <a:r>
              <a:t/>
            </a:r>
            <a:endParaRPr/>
          </a:p>
          <a:p>
            <a:pPr indent="0" lvl="0" marL="45720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9"/>
          <p:cNvSpPr txBox="1"/>
          <p:nvPr>
            <p:ph type="ctrTitle"/>
          </p:nvPr>
        </p:nvSpPr>
        <p:spPr>
          <a:xfrm>
            <a:off x="311700" y="744575"/>
            <a:ext cx="8520600" cy="87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solidFill>
                  <a:srgbClr val="000000"/>
                </a:solidFill>
              </a:rPr>
              <a:t>Lessons learned</a:t>
            </a:r>
            <a:endParaRPr>
              <a:solidFill>
                <a:srgbClr val="000000"/>
              </a:solidFill>
            </a:endParaRPr>
          </a:p>
        </p:txBody>
      </p:sp>
      <p:sp>
        <p:nvSpPr>
          <p:cNvPr id="297" name="Google Shape;297;p49"/>
          <p:cNvSpPr txBox="1"/>
          <p:nvPr>
            <p:ph idx="1" type="subTitle"/>
          </p:nvPr>
        </p:nvSpPr>
        <p:spPr>
          <a:xfrm>
            <a:off x="311700" y="1705825"/>
            <a:ext cx="8520600" cy="2955900"/>
          </a:xfrm>
          <a:prstGeom prst="rect">
            <a:avLst/>
          </a:prstGeom>
        </p:spPr>
        <p:txBody>
          <a:bodyPr anchorCtr="0" anchor="t" bIns="91425" lIns="91425" spcFirstLastPara="1" rIns="91425" wrap="square" tIns="91425">
            <a:noAutofit/>
          </a:bodyPr>
          <a:lstStyle/>
          <a:p>
            <a:pPr indent="-406400" lvl="0" marL="457200" rtl="0" algn="just">
              <a:spcBef>
                <a:spcPts val="0"/>
              </a:spcBef>
              <a:spcAft>
                <a:spcPts val="0"/>
              </a:spcAft>
              <a:buClr>
                <a:srgbClr val="000000"/>
              </a:buClr>
              <a:buSzPts val="2800"/>
              <a:buChar char="●"/>
            </a:pPr>
            <a:r>
              <a:rPr lang="en-GB">
                <a:solidFill>
                  <a:srgbClr val="000000"/>
                </a:solidFill>
              </a:rPr>
              <a:t>Colaboration</a:t>
            </a:r>
            <a:endParaRPr>
              <a:solidFill>
                <a:srgbClr val="000000"/>
              </a:solidFill>
            </a:endParaRPr>
          </a:p>
          <a:p>
            <a:pPr indent="-406400" lvl="0" marL="457200" rtl="0" algn="just">
              <a:spcBef>
                <a:spcPts val="0"/>
              </a:spcBef>
              <a:spcAft>
                <a:spcPts val="0"/>
              </a:spcAft>
              <a:buClr>
                <a:srgbClr val="000000"/>
              </a:buClr>
              <a:buSzPts val="2800"/>
              <a:buChar char="●"/>
            </a:pPr>
            <a:r>
              <a:rPr lang="en-GB">
                <a:solidFill>
                  <a:srgbClr val="000000"/>
                </a:solidFill>
              </a:rPr>
              <a:t>New skills</a:t>
            </a:r>
            <a:endParaRPr>
              <a:solidFill>
                <a:srgbClr val="000000"/>
              </a:solidFill>
            </a:endParaRPr>
          </a:p>
          <a:p>
            <a:pPr indent="-406400" lvl="0" marL="457200" rtl="0" algn="just">
              <a:spcBef>
                <a:spcPts val="0"/>
              </a:spcBef>
              <a:spcAft>
                <a:spcPts val="0"/>
              </a:spcAft>
              <a:buClr>
                <a:srgbClr val="000000"/>
              </a:buClr>
              <a:buSzPts val="2800"/>
              <a:buChar char="●"/>
            </a:pPr>
            <a:r>
              <a:rPr lang="en-GB">
                <a:solidFill>
                  <a:srgbClr val="000000"/>
                </a:solidFill>
              </a:rPr>
              <a:t>Dedication</a:t>
            </a:r>
            <a:endParaRPr>
              <a:solidFill>
                <a:srgbClr val="000000"/>
              </a:solidFill>
            </a:endParaRPr>
          </a:p>
          <a:p>
            <a:pPr indent="-406400" lvl="0" marL="457200" rtl="0" algn="just">
              <a:spcBef>
                <a:spcPts val="0"/>
              </a:spcBef>
              <a:spcAft>
                <a:spcPts val="0"/>
              </a:spcAft>
              <a:buClr>
                <a:srgbClr val="000000"/>
              </a:buClr>
              <a:buSzPts val="2800"/>
              <a:buChar char="●"/>
            </a:pPr>
            <a:r>
              <a:rPr lang="en-GB">
                <a:solidFill>
                  <a:srgbClr val="000000"/>
                </a:solidFill>
              </a:rPr>
              <a:t>Planning etc</a:t>
            </a:r>
            <a:endParaRPr>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0"/>
          <p:cNvSpPr txBox="1"/>
          <p:nvPr>
            <p:ph type="ctrTitle"/>
          </p:nvPr>
        </p:nvSpPr>
        <p:spPr>
          <a:xfrm>
            <a:off x="311700" y="705500"/>
            <a:ext cx="8520600" cy="747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GB" sz="2800">
                <a:solidFill>
                  <a:srgbClr val="000000"/>
                </a:solidFill>
              </a:rPr>
              <a:t>Acknowledgements</a:t>
            </a:r>
            <a:endParaRPr sz="2800">
              <a:solidFill>
                <a:srgbClr val="000000"/>
              </a:solidFill>
            </a:endParaRPr>
          </a:p>
        </p:txBody>
      </p:sp>
      <p:sp>
        <p:nvSpPr>
          <p:cNvPr id="303" name="Google Shape;303;p50"/>
          <p:cNvSpPr txBox="1"/>
          <p:nvPr>
            <p:ph idx="1" type="subTitle"/>
          </p:nvPr>
        </p:nvSpPr>
        <p:spPr>
          <a:xfrm>
            <a:off x="311700" y="1560825"/>
            <a:ext cx="8520600" cy="2552700"/>
          </a:xfrm>
          <a:prstGeom prst="rect">
            <a:avLst/>
          </a:prstGeom>
          <a:noFill/>
          <a:ln>
            <a:noFill/>
          </a:ln>
        </p:spPr>
        <p:txBody>
          <a:bodyPr anchorCtr="0" anchor="t" bIns="91425" lIns="91425" spcFirstLastPara="1" rIns="91425" wrap="square" tIns="91425">
            <a:noAutofit/>
          </a:bodyPr>
          <a:lstStyle/>
          <a:p>
            <a:pPr indent="-285750" lvl="0" marL="285750" rtl="0" algn="l">
              <a:lnSpc>
                <a:spcPct val="150000"/>
              </a:lnSpc>
              <a:spcBef>
                <a:spcPts val="0"/>
              </a:spcBef>
              <a:spcAft>
                <a:spcPts val="0"/>
              </a:spcAft>
              <a:buClr>
                <a:srgbClr val="000000"/>
              </a:buClr>
              <a:buSzPts val="2800"/>
              <a:buFont typeface="Arial"/>
              <a:buChar char="•"/>
            </a:pPr>
            <a:r>
              <a:rPr lang="en-GB" sz="1800">
                <a:solidFill>
                  <a:srgbClr val="000000"/>
                </a:solidFill>
              </a:rPr>
              <a:t>Labs submitting data to GISAID</a:t>
            </a:r>
            <a:endParaRPr>
              <a:solidFill>
                <a:srgbClr val="000000"/>
              </a:solidFill>
            </a:endParaRPr>
          </a:p>
          <a:p>
            <a:pPr indent="-285750" lvl="0" marL="285750" rtl="0" algn="l">
              <a:lnSpc>
                <a:spcPct val="150000"/>
              </a:lnSpc>
              <a:spcBef>
                <a:spcPts val="0"/>
              </a:spcBef>
              <a:spcAft>
                <a:spcPts val="0"/>
              </a:spcAft>
              <a:buClr>
                <a:srgbClr val="000000"/>
              </a:buClr>
              <a:buSzPts val="2800"/>
              <a:buFont typeface="Arial"/>
              <a:buChar char="•"/>
            </a:pPr>
            <a:r>
              <a:rPr lang="en-GB" sz="1800">
                <a:solidFill>
                  <a:srgbClr val="000000"/>
                </a:solidFill>
              </a:rPr>
              <a:t>EANBiT supervisors and </a:t>
            </a:r>
            <a:endParaRPr>
              <a:solidFill>
                <a:srgbClr val="000000"/>
              </a:solidFill>
            </a:endParaRPr>
          </a:p>
          <a:p>
            <a:pPr indent="-285750" lvl="0" marL="285750" rtl="0" algn="l">
              <a:lnSpc>
                <a:spcPct val="150000"/>
              </a:lnSpc>
              <a:spcBef>
                <a:spcPts val="0"/>
              </a:spcBef>
              <a:spcAft>
                <a:spcPts val="0"/>
              </a:spcAft>
              <a:buClr>
                <a:srgbClr val="000000"/>
              </a:buClr>
              <a:buSzPts val="2800"/>
              <a:buFont typeface="Arial"/>
              <a:buChar char="•"/>
            </a:pPr>
            <a:r>
              <a:rPr lang="en-GB" sz="1800">
                <a:solidFill>
                  <a:srgbClr val="000000"/>
                </a:solidFill>
              </a:rPr>
              <a:t>Dr. Lucy van Dorp</a:t>
            </a:r>
            <a:endParaRPr sz="1800">
              <a:solidFill>
                <a:srgbClr val="000000"/>
              </a:solidFill>
            </a:endParaRPr>
          </a:p>
          <a:p>
            <a:pPr indent="-285750" lvl="0" marL="285750" rtl="0" algn="l">
              <a:lnSpc>
                <a:spcPct val="150000"/>
              </a:lnSpc>
              <a:spcBef>
                <a:spcPts val="0"/>
              </a:spcBef>
              <a:spcAft>
                <a:spcPts val="0"/>
              </a:spcAft>
              <a:buClr>
                <a:srgbClr val="000000"/>
              </a:buClr>
              <a:buSzPts val="2800"/>
              <a:buFont typeface="Arial"/>
              <a:buChar char="•"/>
            </a:pPr>
            <a:r>
              <a:rPr lang="en-GB" sz="1800">
                <a:solidFill>
                  <a:srgbClr val="000000"/>
                </a:solidFill>
              </a:rPr>
              <a:t>Professor Kurt Wollenberg</a:t>
            </a:r>
            <a:endParaRPr sz="1800">
              <a:solidFill>
                <a:srgbClr val="000000"/>
              </a:solidFill>
            </a:endParaRPr>
          </a:p>
          <a:p>
            <a:pPr indent="-285750" lvl="0" marL="285750" rtl="0" algn="l">
              <a:lnSpc>
                <a:spcPct val="150000"/>
              </a:lnSpc>
              <a:spcBef>
                <a:spcPts val="0"/>
              </a:spcBef>
              <a:spcAft>
                <a:spcPts val="0"/>
              </a:spcAft>
              <a:buClr>
                <a:srgbClr val="000000"/>
              </a:buClr>
              <a:buSzPts val="2800"/>
              <a:buFont typeface="Arial"/>
              <a:buChar char="•"/>
            </a:pPr>
            <a:r>
              <a:rPr lang="en-GB" sz="1800">
                <a:solidFill>
                  <a:srgbClr val="000000"/>
                </a:solidFill>
              </a:rPr>
              <a:t>Group members</a:t>
            </a:r>
            <a:endParaRPr sz="18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1"/>
          <p:cNvSpPr txBox="1"/>
          <p:nvPr>
            <p:ph idx="1" type="subTitle"/>
          </p:nvPr>
        </p:nvSpPr>
        <p:spPr>
          <a:xfrm>
            <a:off x="175450" y="2039350"/>
            <a:ext cx="8520600" cy="16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000000"/>
                </a:solidFill>
              </a:rPr>
              <a:t>Thank you</a:t>
            </a:r>
            <a:endParaRPr>
              <a:solidFill>
                <a:srgbClr val="000000"/>
              </a:solidFill>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